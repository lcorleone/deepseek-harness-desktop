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21678900" cy="12192000" type="custom"/>
  <p:notesSz cx="216789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1_2.png"/><Relationship Id="rId4" Type="http://schemas.openxmlformats.org/officeDocument/2006/relationships/image" Target="../media/image1_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image" Target="../media/image4_2.png"/><Relationship Id="rId4" Type="http://schemas.openxmlformats.org/officeDocument/2006/relationships/image" Target="../media/image4_3.png"/><Relationship Id="rId5" Type="http://schemas.openxmlformats.org/officeDocument/2006/relationships/image" Target="../media/image4_4.png"/><Relationship Id="rId6" Type="http://schemas.openxmlformats.org/officeDocument/2006/relationships/image" Target="../media/image4_3.png"/><Relationship Id="rId7" Type="http://schemas.openxmlformats.org/officeDocument/2006/relationships/image" Target="../media/image4_4.png"/><Relationship Id="rId8" Type="http://schemas.openxmlformats.org/officeDocument/2006/relationships/image" Target="../media/image4_3.png"/><Relationship Id="rId9" Type="http://schemas.openxmlformats.org/officeDocument/2006/relationships/image" Target="../media/image4_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image" Target="../media/image5_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_1.png"/><Relationship Id="rId3" Type="http://schemas.openxmlformats.org/officeDocument/2006/relationships/image" Target="../media/image8_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image" Target="../media/image9_2.png"/><Relationship Id="rId4" Type="http://schemas.openxmlformats.org/officeDocument/2006/relationships/image" Target="../media/image9_2.png"/><Relationship Id="rId5" Type="http://schemas.openxmlformats.org/officeDocument/2006/relationships/image" Target="../media/image9_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image" Target="../media/image10_2.png"/><Relationship Id="rId4" Type="http://schemas.openxmlformats.org/officeDocument/2006/relationships/image" Target="../media/image10_3.png"/><Relationship Id="rId5" Type="http://schemas.openxmlformats.org/officeDocument/2006/relationships/image" Target="../media/image10_3.png"/><Relationship Id="rId6" Type="http://schemas.openxmlformats.org/officeDocument/2006/relationships/image" Target="../media/image10_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_1.png"/><Relationship Id="rId3" Type="http://schemas.openxmlformats.org/officeDocument/2006/relationships/image" Target="../media/image6_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Relationship Id="rId3" Type="http://schemas.openxmlformats.org/officeDocument/2006/relationships/image" Target="../media/image10_2.png"/><Relationship Id="rId4" Type="http://schemas.openxmlformats.org/officeDocument/2006/relationships/image" Target="../media/image12_3.png"/><Relationship Id="rId5" Type="http://schemas.openxmlformats.org/officeDocument/2006/relationships/image" Target="../media/image12_4.png"/><Relationship Id="rId6" Type="http://schemas.openxmlformats.org/officeDocument/2006/relationships/image" Target="../media/image12_5.png"/><Relationship Id="rId7" Type="http://schemas.openxmlformats.org/officeDocument/2006/relationships/image" Target="../media/image12_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image" Target="../media/image4_2.png"/><Relationship Id="rId4" Type="http://schemas.openxmlformats.org/officeDocument/2006/relationships/image" Target="../media/image13_3.png"/><Relationship Id="rId5" Type="http://schemas.openxmlformats.org/officeDocument/2006/relationships/image" Target="../media/image13_4.png"/><Relationship Id="rId6" Type="http://schemas.openxmlformats.org/officeDocument/2006/relationships/image" Target="../media/image13_3.png"/><Relationship Id="rId7" Type="http://schemas.openxmlformats.org/officeDocument/2006/relationships/image" Target="../media/image13_4.png"/><Relationship Id="rId8" Type="http://schemas.openxmlformats.org/officeDocument/2006/relationships/image" Target="../media/image13_3.png"/><Relationship Id="rId9" Type="http://schemas.openxmlformats.org/officeDocument/2006/relationships/image" Target="../media/image13_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_1.png"/><Relationship Id="rId3" Type="http://schemas.openxmlformats.org/officeDocument/2006/relationships/image" Target="../media/image15_2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952500" y="9283700"/>
            <a:ext cx="53340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95000"/>
              </a:lnSpc>
            </a:pPr>
            <a:r>
              <a:rPr lang="en-US" sz="3200" noProof="1">
                <a:solidFill>
                  <a:srgbClr val="046A38"/>
                </a:solidFill>
                <a:latin typeface="Noto Sans SC"/>
                <a:ea typeface="Noto Sans SC"/>
              </a:rPr>
              <a:t>德勤 D.Nova 系统介绍</a:t>
            </a:r>
            <a:endParaRPr lang="en-US" sz="3200" noProof="1"/>
          </a:p>
        </p:txBody>
      </p:sp>
      <p:sp>
        <p:nvSpPr>
          <p:cNvPr id="3" name="el2"/>
          <p:cNvSpPr txBox="1"/>
          <p:nvPr/>
        </p:nvSpPr>
        <p:spPr>
          <a:xfrm>
            <a:off x="952500" y="10096500"/>
            <a:ext cx="53340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000000"/>
                </a:solidFill>
                <a:latin typeface="Noto Sans SC"/>
                <a:ea typeface="Noto Sans SC"/>
              </a:rPr>
              <a:t>2026年2月26日</a:t>
            </a:r>
            <a:endParaRPr lang="en-US" sz="2100" noProof="1"/>
          </a:p>
        </p:txBody>
      </p:sp>
      <p:sp>
        <p:nvSpPr>
          <p:cNvPr id="4" name="el3"/>
          <p:cNvSpPr txBox="1"/>
          <p:nvPr/>
        </p:nvSpPr>
        <p:spPr>
          <a:xfrm>
            <a:off x="952500" y="106299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000000"/>
                </a:solidFill>
                <a:latin typeface="Noto Sans SC"/>
                <a:ea typeface="Noto Sans SC"/>
              </a:rPr>
              <a:t>内部资料</a:t>
            </a:r>
            <a:endParaRPr lang="en-US" sz="1600" noProof="1"/>
          </a:p>
        </p:txBody>
      </p:sp>
      <p:sp>
        <p:nvSpPr>
          <p:cNvPr id="5" name="el4"/>
          <p:cNvSpPr txBox="1"/>
          <p:nvPr/>
        </p:nvSpPr>
        <p:spPr>
          <a:xfrm>
            <a:off x="952500" y="110363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DC143C"/>
                </a:solidFill>
                <a:latin typeface="Noto Sans SC"/>
                <a:ea typeface="Noto Sans SC"/>
              </a:rPr>
              <a:t>仅限内部使用</a:t>
            </a:r>
            <a:endParaRPr lang="en-US" sz="1600" noProof="1"/>
          </a:p>
        </p:txBody>
      </p:sp>
      <p:pic>
        <p:nvPicPr>
          <p:cNvPr id="6" name="el5"/>
          <p:cNvPicPr/>
          <p:nvPr/>
        </p:nvPicPr>
        <p:blipFill>
          <a:blip r:embed="rId2"/>
          <a:stretch>
            <a:fillRect/>
          </a:stretch>
        </p:blipFill>
        <p:spPr>
          <a:xfrm>
            <a:off x="673100" y="406400"/>
            <a:ext cx="1892300" cy="952500"/>
          </a:xfrm>
          <a:prstGeom prst="rect">
            <a:avLst/>
          </a:prstGeom>
          <a:ln>
            <a:noFill/>
          </a:ln>
        </p:spPr>
      </p:pic>
      <p:pic>
        <p:nvPicPr>
          <p:cNvPr id="7" name="el6"/>
          <p:cNvPicPr/>
          <p:nvPr/>
        </p:nvPicPr>
        <p:blipFill>
          <a:blip r:embed="rId3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pic>
        <p:nvPicPr>
          <p:cNvPr id="8" name="el7"/>
          <p:cNvPicPr/>
          <p:nvPr/>
        </p:nvPicPr>
        <p:blipFill>
          <a:blip r:embed="rId4"/>
          <a:stretch>
            <a:fillRect/>
          </a:stretch>
        </p:blipFill>
        <p:spPr>
          <a:xfrm>
            <a:off x="5422900" y="1219200"/>
            <a:ext cx="10833100" cy="9753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678900" cy="121920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812800" y="812800"/>
            <a:ext cx="200787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D.Nova 平台定位</a:t>
            </a:r>
            <a:endParaRPr lang="en-US" sz="4000" noProof="1"/>
          </a:p>
        </p:txBody>
      </p:sp>
      <p:sp>
        <p:nvSpPr>
          <p:cNvPr id="4" name="el3"/>
          <p:cNvSpPr txBox="1"/>
          <p:nvPr/>
        </p:nvSpPr>
        <p:spPr>
          <a:xfrm>
            <a:off x="812800" y="17907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德勤全新推出的一体化生成式人工智能平台</a:t>
            </a:r>
            <a:endParaRPr lang="en-US" sz="2400" noProof="1"/>
          </a:p>
        </p:txBody>
      </p:sp>
      <p:sp>
        <p:nvSpPr>
          <p:cNvPr id="5" name="el4"/>
          <p:cNvSpPr/>
          <p:nvPr/>
        </p:nvSpPr>
        <p:spPr>
          <a:xfrm>
            <a:off x="946150" y="3111500"/>
            <a:ext cx="9347200" cy="3594100"/>
          </a:xfrm>
          <a:prstGeom prst="roundRect">
            <a:avLst>
              <a:gd name="adj" fmla="val 1886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6" name="el5"/>
          <p:cNvSpPr/>
          <p:nvPr/>
        </p:nvSpPr>
        <p:spPr>
          <a:xfrm>
            <a:off x="1079500" y="36576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7" name="el6"/>
          <p:cNvSpPr/>
          <p:nvPr/>
        </p:nvSpPr>
        <p:spPr>
          <a:xfrm>
            <a:off x="1079500" y="37211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el7"/>
          <p:cNvSpPr txBox="1"/>
          <p:nvPr/>
        </p:nvSpPr>
        <p:spPr>
          <a:xfrm>
            <a:off x="2095500" y="40767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统一入口：为全体员工提供一致的AI服务体验</a:t>
            </a:r>
            <a:endParaRPr lang="en-US" sz="2400" noProof="1"/>
          </a:p>
        </p:txBody>
      </p:sp>
      <p:sp>
        <p:nvSpPr>
          <p:cNvPr id="9" name="el8"/>
          <p:cNvSpPr txBox="1"/>
          <p:nvPr/>
        </p:nvSpPr>
        <p:spPr>
          <a:xfrm>
            <a:off x="2095500" y="54991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高效协同：集成主流大语言模型，持续更新迭代</a:t>
            </a:r>
            <a:endParaRPr lang="en-US" sz="2400" noProof="1"/>
          </a:p>
        </p:txBody>
      </p:sp>
      <p:sp>
        <p:nvSpPr>
          <p:cNvPr id="10" name="el9"/>
          <p:cNvSpPr/>
          <p:nvPr/>
        </p:nvSpPr>
        <p:spPr>
          <a:xfrm>
            <a:off x="11518900" y="3111500"/>
            <a:ext cx="9347200" cy="3594100"/>
          </a:xfrm>
          <a:prstGeom prst="roundRect">
            <a:avLst>
              <a:gd name="adj" fmla="val 1886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11" name="el10"/>
          <p:cNvSpPr/>
          <p:nvPr/>
        </p:nvSpPr>
        <p:spPr>
          <a:xfrm>
            <a:off x="11785600" y="36576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2" name="el11"/>
          <p:cNvSpPr/>
          <p:nvPr/>
        </p:nvSpPr>
        <p:spPr>
          <a:xfrm>
            <a:off x="11785600" y="37211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3" name="el12"/>
          <p:cNvSpPr txBox="1"/>
          <p:nvPr/>
        </p:nvSpPr>
        <p:spPr>
          <a:xfrm>
            <a:off x="12668250" y="40767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安全合规：基于本地私有化部署，保障数据安全与业务合规</a:t>
            </a:r>
            <a:endParaRPr lang="en-US" sz="2400" noProof="1"/>
          </a:p>
        </p:txBody>
      </p:sp>
      <p:sp>
        <p:nvSpPr>
          <p:cNvPr id="14" name="el13"/>
          <p:cNvSpPr txBox="1"/>
          <p:nvPr/>
        </p:nvSpPr>
        <p:spPr>
          <a:xfrm>
            <a:off x="12801600" y="54991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技术前沿：融合最新生成式AI能力，推动工作模式革新</a:t>
            </a:r>
            <a:endParaRPr lang="en-US" sz="2400" noProof="1"/>
          </a:p>
        </p:txBody>
      </p:sp>
      <p:sp>
        <p:nvSpPr>
          <p:cNvPr id="15" name="el14"/>
          <p:cNvSpPr/>
          <p:nvPr/>
        </p:nvSpPr>
        <p:spPr>
          <a:xfrm>
            <a:off x="946150" y="7466330"/>
            <a:ext cx="9347200" cy="3594100"/>
          </a:xfrm>
          <a:prstGeom prst="roundRect">
            <a:avLst>
              <a:gd name="adj" fmla="val 1886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16" name="el15"/>
          <p:cNvSpPr/>
          <p:nvPr/>
        </p:nvSpPr>
        <p:spPr>
          <a:xfrm>
            <a:off x="1079500" y="83312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7" name="el16"/>
          <p:cNvSpPr/>
          <p:nvPr/>
        </p:nvSpPr>
        <p:spPr>
          <a:xfrm>
            <a:off x="1079500" y="83947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8" name="el17"/>
          <p:cNvSpPr txBox="1"/>
          <p:nvPr/>
        </p:nvSpPr>
        <p:spPr>
          <a:xfrm>
            <a:off x="2095500" y="84582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智能应用：支持多种场景化工具，提升工作效率</a:t>
            </a:r>
            <a:endParaRPr lang="en-US" sz="2400" noProof="1"/>
          </a:p>
        </p:txBody>
      </p:sp>
      <p:sp>
        <p:nvSpPr>
          <p:cNvPr id="19" name="el18"/>
          <p:cNvSpPr txBox="1"/>
          <p:nvPr/>
        </p:nvSpPr>
        <p:spPr>
          <a:xfrm>
            <a:off x="2095500" y="972947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开放集成：提供API接口，便于与现有系统无缝对接</a:t>
            </a:r>
            <a:endParaRPr lang="en-US" sz="2400" noProof="1"/>
          </a:p>
        </p:txBody>
      </p:sp>
      <p:sp>
        <p:nvSpPr>
          <p:cNvPr id="20" name="el19"/>
          <p:cNvSpPr/>
          <p:nvPr/>
        </p:nvSpPr>
        <p:spPr>
          <a:xfrm>
            <a:off x="11512550" y="7466330"/>
            <a:ext cx="9347200" cy="3594100"/>
          </a:xfrm>
          <a:prstGeom prst="roundRect">
            <a:avLst>
              <a:gd name="adj" fmla="val 1886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21" name="el20"/>
          <p:cNvSpPr/>
          <p:nvPr/>
        </p:nvSpPr>
        <p:spPr>
          <a:xfrm>
            <a:off x="11785600" y="83312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2" name="el21"/>
          <p:cNvSpPr/>
          <p:nvPr/>
        </p:nvSpPr>
        <p:spPr>
          <a:xfrm>
            <a:off x="11785600" y="83947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3" name="el22"/>
          <p:cNvSpPr txBox="1"/>
          <p:nvPr/>
        </p:nvSpPr>
        <p:spPr>
          <a:xfrm>
            <a:off x="12801600" y="84582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全员赋能：提供培训与支持，助力员工快速上手</a:t>
            </a:r>
            <a:endParaRPr lang="en-US" sz="2400" noProof="1"/>
          </a:p>
        </p:txBody>
      </p:sp>
      <p:sp>
        <p:nvSpPr>
          <p:cNvPr id="24" name="el23"/>
          <p:cNvSpPr txBox="1"/>
          <p:nvPr/>
        </p:nvSpPr>
        <p:spPr>
          <a:xfrm>
            <a:off x="12801600" y="972947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持续进化：基于反馈优化功能，保持平台先进性</a:t>
            </a:r>
            <a:endParaRPr lang="en-US" sz="2400" noProof="1"/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2141200" y="0"/>
            <a:ext cx="9537700" cy="24384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812800" y="673100"/>
            <a:ext cx="200787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111827"/>
                </a:solidFill>
                <a:latin typeface="Arial"/>
                <a:ea typeface="Arial"/>
              </a:rPr>
              <a:t>核心目标与价值</a:t>
            </a:r>
            <a:endParaRPr lang="en-US" sz="3600" noProof="1"/>
          </a:p>
        </p:txBody>
      </p:sp>
      <p:sp>
        <p:nvSpPr>
          <p:cNvPr id="4" name="el3"/>
          <p:cNvSpPr txBox="1"/>
          <p:nvPr/>
        </p:nvSpPr>
        <p:spPr>
          <a:xfrm>
            <a:off x="812800" y="15113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6B7280"/>
                </a:solidFill>
                <a:latin typeface="Arial"/>
                <a:ea typeface="Arial"/>
              </a:rPr>
              <a:t>驱动智能升级，赋能组织高效发展</a:t>
            </a:r>
            <a:endParaRPr lang="en-US" sz="2200" noProof="1"/>
          </a:p>
        </p:txBody>
      </p:sp>
      <p:sp>
        <p:nvSpPr>
          <p:cNvPr id="5" name="el4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sp>
        <p:nvSpPr>
          <p:cNvPr id="6" name="el5"/>
          <p:cNvSpPr txBox="1"/>
          <p:nvPr/>
        </p:nvSpPr>
        <p:spPr>
          <a:xfrm>
            <a:off x="812800" y="2832100"/>
            <a:ext cx="200787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五大核心价值</a:t>
            </a:r>
            <a:endParaRPr lang="en-US" sz="2000" noProof="1"/>
          </a:p>
        </p:txBody>
      </p:sp>
      <p:sp>
        <p:nvSpPr>
          <p:cNvPr id="7" name="el6"/>
          <p:cNvSpPr/>
          <p:nvPr/>
        </p:nvSpPr>
        <p:spPr>
          <a:xfrm>
            <a:off x="812800" y="3416300"/>
            <a:ext cx="20053300" cy="863600"/>
          </a:xfrm>
          <a:prstGeom prst="roundRect">
            <a:avLst>
              <a:gd name="adj" fmla="val 7843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el7"/>
          <p:cNvSpPr txBox="1"/>
          <p:nvPr/>
        </p:nvSpPr>
        <p:spPr>
          <a:xfrm>
            <a:off x="1079500" y="36195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Arial"/>
                <a:ea typeface="Arial"/>
              </a:rPr>
              <a:t>提升效率</a:t>
            </a:r>
            <a:endParaRPr lang="en-US" sz="2000" noProof="1"/>
          </a:p>
        </p:txBody>
      </p:sp>
      <p:sp>
        <p:nvSpPr>
          <p:cNvPr id="9" name="el8"/>
          <p:cNvSpPr txBox="1"/>
          <p:nvPr/>
        </p:nvSpPr>
        <p:spPr>
          <a:xfrm>
            <a:off x="6235700" y="3619500"/>
            <a:ext cx="143891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Arial"/>
                <a:ea typeface="Arial"/>
              </a:rPr>
              <a:t>增强质量</a:t>
            </a:r>
            <a:endParaRPr lang="en-US" sz="2000" noProof="1"/>
          </a:p>
        </p:txBody>
      </p:sp>
      <p:sp>
        <p:nvSpPr>
          <p:cNvPr id="10" name="el9"/>
          <p:cNvSpPr/>
          <p:nvPr/>
        </p:nvSpPr>
        <p:spPr>
          <a:xfrm>
            <a:off x="812800" y="4279900"/>
            <a:ext cx="20053300" cy="12700"/>
          </a:xfrm>
          <a:prstGeom prst="roundRect">
            <a:avLst>
              <a:gd name="adj" fmla="val 400000"/>
            </a:avLst>
          </a:prstGeom>
          <a:solidFill>
            <a:srgbClr val="FFFFFF">
              <a:alpha val="0"/>
            </a:srgbClr>
          </a:solidFill>
          <a:ln w="16891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1" name="el10"/>
          <p:cNvSpPr txBox="1"/>
          <p:nvPr/>
        </p:nvSpPr>
        <p:spPr>
          <a:xfrm>
            <a:off x="812800" y="45720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专业性</a:t>
            </a:r>
            <a:endParaRPr lang="en-US" sz="2000" noProof="1"/>
          </a:p>
        </p:txBody>
      </p:sp>
      <p:sp>
        <p:nvSpPr>
          <p:cNvPr id="12" name="el11"/>
          <p:cNvSpPr txBox="1"/>
          <p:nvPr/>
        </p:nvSpPr>
        <p:spPr>
          <a:xfrm>
            <a:off x="6362700" y="45720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通过AI智能校对与优化，确保输出内容精准、规范，符合行业标准，显著降低人工修改成本，提升交付速度与专业水准。</a:t>
            </a:r>
            <a:endParaRPr lang="en-US" sz="2000" noProof="1"/>
          </a:p>
        </p:txBody>
      </p:sp>
      <p:sp>
        <p:nvSpPr>
          <p:cNvPr id="13" name="el12"/>
          <p:cNvSpPr txBox="1"/>
          <p:nvPr/>
        </p:nvSpPr>
        <p:spPr>
          <a:xfrm>
            <a:off x="6362700" y="54991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MiSans"/>
                <a:ea typeface="MiSans"/>
              </a:rPr>
              <a:t>支持多语言、多格式内容生成，覆盖技术文档、商业报告、代码注释等关键场景，输出质量随使用持续优化</a:t>
            </a:r>
            <a:r>
              <a:rPr lang="en-US" sz="2000" noProof="1">
                <a:solidFill>
                  <a:srgbClr val="111827"/>
                </a:solidFill>
                <a:latin typeface="MiSans"/>
                <a:ea typeface="MiSans"/>
              </a:rPr>
              <a:t>。</a:t>
            </a:r>
            <a:endParaRPr lang="en-US" sz="1600" noProof="1"/>
          </a:p>
        </p:txBody>
      </p:sp>
      <p:sp>
        <p:nvSpPr>
          <p:cNvPr id="14" name="el13"/>
          <p:cNvSpPr/>
          <p:nvPr/>
        </p:nvSpPr>
        <p:spPr>
          <a:xfrm>
            <a:off x="812800" y="6616700"/>
            <a:ext cx="20053300" cy="12700"/>
          </a:xfrm>
          <a:prstGeom prst="roundRect">
            <a:avLst>
              <a:gd name="adj" fmla="val 400000"/>
            </a:avLst>
          </a:prstGeom>
          <a:solidFill>
            <a:srgbClr val="FFFFFF">
              <a:alpha val="0"/>
            </a:srgbClr>
          </a:solidFill>
          <a:ln w="16891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5" name="el14"/>
          <p:cNvSpPr txBox="1"/>
          <p:nvPr/>
        </p:nvSpPr>
        <p:spPr>
          <a:xfrm>
            <a:off x="812800" y="69088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促进创新</a:t>
            </a:r>
            <a:endParaRPr lang="en-US" sz="2000" noProof="1"/>
          </a:p>
        </p:txBody>
      </p:sp>
      <p:sp>
        <p:nvSpPr>
          <p:cNvPr id="16" name="el15"/>
          <p:cNvSpPr txBox="1"/>
          <p:nvPr/>
        </p:nvSpPr>
        <p:spPr>
          <a:xfrm>
            <a:off x="6362700" y="69088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基于智能体与提示词模板，激发创意构思与策略输出，支持快速原型设计与方案迭代，助力团队突破思维定式。</a:t>
            </a:r>
            <a:endParaRPr lang="en-US" sz="2000" noProof="1"/>
          </a:p>
        </p:txBody>
      </p:sp>
      <p:sp>
        <p:nvSpPr>
          <p:cNvPr id="17" name="el16"/>
          <p:cNvSpPr txBox="1"/>
          <p:nvPr/>
        </p:nvSpPr>
        <p:spPr>
          <a:xfrm>
            <a:off x="6362700" y="78232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支持个性化提示工程，适配不同业务场景与角色需求，推动创新从想法到落地的高效转化。</a:t>
            </a:r>
            <a:endParaRPr lang="en-US" sz="2000" noProof="1"/>
          </a:p>
        </p:txBody>
      </p:sp>
      <p:sp>
        <p:nvSpPr>
          <p:cNvPr id="18" name="el17"/>
          <p:cNvSpPr/>
          <p:nvPr/>
        </p:nvSpPr>
        <p:spPr>
          <a:xfrm>
            <a:off x="812800" y="8534400"/>
            <a:ext cx="20053300" cy="12700"/>
          </a:xfrm>
          <a:prstGeom prst="roundRect">
            <a:avLst>
              <a:gd name="adj" fmla="val 400000"/>
            </a:avLst>
          </a:prstGeom>
          <a:solidFill>
            <a:srgbClr val="FFFFFF">
              <a:alpha val="0"/>
            </a:srgbClr>
          </a:solidFill>
          <a:ln w="16891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9" name="el18"/>
          <p:cNvSpPr txBox="1"/>
          <p:nvPr/>
        </p:nvSpPr>
        <p:spPr>
          <a:xfrm>
            <a:off x="812800" y="88265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知识沉淀</a:t>
            </a:r>
            <a:endParaRPr lang="en-US" sz="2000" noProof="1"/>
          </a:p>
        </p:txBody>
      </p:sp>
      <p:sp>
        <p:nvSpPr>
          <p:cNvPr id="20" name="el19"/>
          <p:cNvSpPr txBox="1"/>
          <p:nvPr/>
        </p:nvSpPr>
        <p:spPr>
          <a:xfrm>
            <a:off x="6362700" y="88265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构建可复用的知识资产库，实现经验与最佳实践的结构化存储，支持版本管理与权限控制，确保知识安全共享。</a:t>
            </a:r>
            <a:endParaRPr lang="en-US" sz="2000" noProof="1"/>
          </a:p>
        </p:txBody>
      </p:sp>
      <p:sp>
        <p:nvSpPr>
          <p:cNvPr id="21" name="el20"/>
          <p:cNvSpPr/>
          <p:nvPr/>
        </p:nvSpPr>
        <p:spPr>
          <a:xfrm>
            <a:off x="812800" y="9842500"/>
            <a:ext cx="20053300" cy="12700"/>
          </a:xfrm>
          <a:prstGeom prst="roundRect">
            <a:avLst>
              <a:gd name="adj" fmla="val 400000"/>
            </a:avLst>
          </a:prstGeom>
          <a:solidFill>
            <a:srgbClr val="FFFFFF">
              <a:alpha val="0"/>
            </a:srgbClr>
          </a:solidFill>
          <a:ln w="16891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2" name="el21"/>
          <p:cNvSpPr txBox="1"/>
          <p:nvPr/>
        </p:nvSpPr>
        <p:spPr>
          <a:xfrm>
            <a:off x="812800" y="101473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灵活扩展</a:t>
            </a:r>
            <a:endParaRPr lang="en-US" sz="2000" noProof="1"/>
          </a:p>
        </p:txBody>
      </p:sp>
      <p:sp>
        <p:nvSpPr>
          <p:cNvPr id="23" name="el22"/>
          <p:cNvSpPr txBox="1"/>
          <p:nvPr/>
        </p:nvSpPr>
        <p:spPr>
          <a:xfrm>
            <a:off x="6362700" y="100838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MiSans"/>
                <a:ea typeface="MiSans"/>
              </a:rPr>
              <a:t>支持API接入与第三方系统集成，无缝嵌入现有工作流，可按需扩展功能模块，适配不同业务规模与复杂度</a:t>
            </a:r>
            <a:r>
              <a:rPr lang="en-US" sz="2000" noProof="1">
                <a:solidFill>
                  <a:srgbClr val="111827"/>
                </a:solidFill>
                <a:latin typeface="MiSans"/>
                <a:ea typeface="MiSans"/>
              </a:rPr>
              <a:t>。</a:t>
            </a:r>
            <a:endParaRPr lang="en-US" sz="1600" noProof="1"/>
          </a:p>
        </p:txBody>
      </p:sp>
      <p:sp>
        <p:nvSpPr>
          <p:cNvPr id="24" name="el23"/>
          <p:cNvSpPr/>
          <p:nvPr/>
        </p:nvSpPr>
        <p:spPr>
          <a:xfrm>
            <a:off x="812800" y="13195300"/>
            <a:ext cx="20053300" cy="12700"/>
          </a:xfrm>
          <a:prstGeom prst="roundRect">
            <a:avLst>
              <a:gd name="adj" fmla="val 400000"/>
            </a:avLst>
          </a:prstGeom>
          <a:solidFill>
            <a:srgbClr val="FFFFFF">
              <a:alpha val="0"/>
            </a:srgbClr>
          </a:solidFill>
          <a:ln w="16891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pic>
        <p:nvPicPr>
          <p:cNvPr id="3" name="el2"/>
          <p:cNvPicPr/>
          <p:nvPr/>
        </p:nvPicPr>
        <p:blipFill>
          <a:blip r:embed="rId3"/>
          <a:stretch>
            <a:fillRect/>
          </a:stretch>
        </p:blipFill>
        <p:spPr>
          <a:xfrm>
            <a:off x="12141200" y="9753600"/>
            <a:ext cx="9537700" cy="2438400"/>
          </a:xfrm>
          <a:prstGeom prst="rect">
            <a:avLst/>
          </a:prstGeom>
          <a:ln>
            <a:noFill/>
          </a:ln>
        </p:spPr>
      </p:pic>
      <p:sp>
        <p:nvSpPr>
          <p:cNvPr id="4" name="el3"/>
          <p:cNvSpPr txBox="1"/>
          <p:nvPr/>
        </p:nvSpPr>
        <p:spPr>
          <a:xfrm>
            <a:off x="812800" y="812800"/>
            <a:ext cx="200787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D.Nova 功能全景图</a:t>
            </a:r>
            <a:endParaRPr lang="en-US" sz="4000" noProof="1"/>
          </a:p>
        </p:txBody>
      </p:sp>
      <p:sp>
        <p:nvSpPr>
          <p:cNvPr id="5" name="el4"/>
          <p:cNvSpPr txBox="1"/>
          <p:nvPr/>
        </p:nvSpPr>
        <p:spPr>
          <a:xfrm>
            <a:off x="812800" y="17907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一站式智能生产力平台</a:t>
            </a:r>
            <a:endParaRPr lang="en-US" sz="2400" noProof="1"/>
          </a:p>
        </p:txBody>
      </p:sp>
      <p:sp>
        <p:nvSpPr>
          <p:cNvPr id="6" name="el5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7" name="el6"/>
          <p:cNvPicPr/>
          <p:nvPr/>
        </p:nvPicPr>
        <p:blipFill>
          <a:blip r:embed="rId4"/>
          <a:stretch>
            <a:fillRect/>
          </a:stretch>
        </p:blipFill>
        <p:spPr>
          <a:xfrm>
            <a:off x="3340100" y="3390900"/>
            <a:ext cx="1079500" cy="1079500"/>
          </a:xfrm>
          <a:prstGeom prst="rect">
            <a:avLst/>
          </a:prstGeom>
          <a:ln>
            <a:noFill/>
          </a:ln>
        </p:spPr>
      </p:pic>
      <p:pic>
        <p:nvPicPr>
          <p:cNvPr id="8" name="el7"/>
          <p:cNvPicPr/>
          <p:nvPr/>
        </p:nvPicPr>
        <p:blipFill>
          <a:blip r:embed="rId5"/>
          <a:stretch>
            <a:fillRect/>
          </a:stretch>
        </p:blipFill>
        <p:spPr>
          <a:xfrm>
            <a:off x="3467100" y="35179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9" name="el8"/>
          <p:cNvSpPr txBox="1"/>
          <p:nvPr/>
        </p:nvSpPr>
        <p:spPr>
          <a:xfrm>
            <a:off x="1168400" y="48768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智能问答：支持通用任务处理与多轮对话，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提升人机交互效率和协作体验</a:t>
            </a:r>
            <a:endParaRPr lang="en-US" sz="2400" noProof="1"/>
          </a:p>
        </p:txBody>
      </p:sp>
      <p:sp>
        <p:nvSpPr>
          <p:cNvPr id="10" name="el9"/>
          <p:cNvSpPr txBox="1"/>
          <p:nvPr/>
        </p:nvSpPr>
        <p:spPr>
          <a:xfrm>
            <a:off x="1168400" y="68580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知识管理：构建企业专属知识库，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实现知识沉淀与高效智能检索</a:t>
            </a:r>
            <a:endParaRPr lang="en-US" sz="2400" noProof="1"/>
          </a:p>
        </p:txBody>
      </p:sp>
      <p:pic>
        <p:nvPicPr>
          <p:cNvPr id="11" name="el10"/>
          <p:cNvPicPr/>
          <p:nvPr/>
        </p:nvPicPr>
        <p:blipFill>
          <a:blip r:embed="rId6"/>
          <a:stretch>
            <a:fillRect/>
          </a:stretch>
        </p:blipFill>
        <p:spPr>
          <a:xfrm>
            <a:off x="10299700" y="3390900"/>
            <a:ext cx="1079500" cy="1079500"/>
          </a:xfrm>
          <a:prstGeom prst="rect">
            <a:avLst/>
          </a:prstGeom>
          <a:ln>
            <a:noFill/>
          </a:ln>
        </p:spPr>
      </p:pic>
      <p:pic>
        <p:nvPicPr>
          <p:cNvPr id="12" name="el11"/>
          <p:cNvPicPr/>
          <p:nvPr/>
        </p:nvPicPr>
        <p:blipFill>
          <a:blip r:embed="rId7"/>
          <a:stretch>
            <a:fillRect/>
          </a:stretch>
        </p:blipFill>
        <p:spPr>
          <a:xfrm>
            <a:off x="10426700" y="35179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13" name="el12"/>
          <p:cNvSpPr txBox="1"/>
          <p:nvPr/>
        </p:nvSpPr>
        <p:spPr>
          <a:xfrm>
            <a:off x="8128000" y="48768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共创智能集市：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一站式访问AI工具与智能体，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促进生态协作与创新落地</a:t>
            </a:r>
            <a:endParaRPr lang="en-US" sz="2400" noProof="1"/>
          </a:p>
        </p:txBody>
      </p:sp>
      <p:sp>
        <p:nvSpPr>
          <p:cNvPr id="14" name="el13"/>
          <p:cNvSpPr txBox="1"/>
          <p:nvPr/>
        </p:nvSpPr>
        <p:spPr>
          <a:xfrm>
            <a:off x="8128000" y="68580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工作助手：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覆盖文档处理、翻译、语音、编程等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高频办公场景，提升日常效率</a:t>
            </a:r>
            <a:endParaRPr lang="en-US" sz="2400" noProof="1"/>
          </a:p>
        </p:txBody>
      </p:sp>
      <p:pic>
        <p:nvPicPr>
          <p:cNvPr id="15" name="el14"/>
          <p:cNvPicPr/>
          <p:nvPr/>
        </p:nvPicPr>
        <p:blipFill>
          <a:blip r:embed="rId8"/>
          <a:stretch>
            <a:fillRect/>
          </a:stretch>
        </p:blipFill>
        <p:spPr>
          <a:xfrm>
            <a:off x="17259300" y="3390900"/>
            <a:ext cx="1079500" cy="1079500"/>
          </a:xfrm>
          <a:prstGeom prst="rect">
            <a:avLst/>
          </a:prstGeom>
          <a:ln>
            <a:noFill/>
          </a:ln>
        </p:spPr>
      </p:pic>
      <p:pic>
        <p:nvPicPr>
          <p:cNvPr id="16" name="el15"/>
          <p:cNvPicPr/>
          <p:nvPr/>
        </p:nvPicPr>
        <p:blipFill>
          <a:blip r:embed="rId9"/>
          <a:stretch>
            <a:fillRect/>
          </a:stretch>
        </p:blipFill>
        <p:spPr>
          <a:xfrm>
            <a:off x="17386300" y="35179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17" name="el16"/>
          <p:cNvSpPr txBox="1"/>
          <p:nvPr/>
        </p:nvSpPr>
        <p:spPr>
          <a:xfrm>
            <a:off x="15087600" y="48768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应用中心：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提供面向行业与业务场景的定制化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GenAI应用集合，加速价值实现</a:t>
            </a:r>
            <a:endParaRPr lang="en-US" sz="2400" noProof="1"/>
          </a:p>
        </p:txBody>
      </p:sp>
      <p:sp>
        <p:nvSpPr>
          <p:cNvPr id="18" name="el17"/>
          <p:cNvSpPr txBox="1"/>
          <p:nvPr/>
        </p:nvSpPr>
        <p:spPr>
          <a:xfrm>
            <a:off x="15087600" y="68580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权限管理与API服务：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支持安全可控的资源访问和系统集成，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保障企业级合规需求</a:t>
            </a:r>
            <a:endParaRPr lang="en-US" sz="2400" noProof="1"/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787400" y="2032000"/>
            <a:ext cx="200787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智能问答模块概述</a:t>
            </a:r>
            <a:endParaRPr lang="en-US" sz="4000" noProof="1"/>
          </a:p>
        </p:txBody>
      </p:sp>
      <p:sp>
        <p:nvSpPr>
          <p:cNvPr id="4" name="el3"/>
          <p:cNvSpPr txBox="1"/>
          <p:nvPr/>
        </p:nvSpPr>
        <p:spPr>
          <a:xfrm>
            <a:off x="812800" y="15240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赋能自然语言交互与高效内容创作</a:t>
            </a:r>
            <a:endParaRPr lang="en-US" sz="2400" noProof="1"/>
          </a:p>
        </p:txBody>
      </p:sp>
      <p:sp>
        <p:nvSpPr>
          <p:cNvPr id="5" name="el4"/>
          <p:cNvSpPr txBox="1"/>
          <p:nvPr/>
        </p:nvSpPr>
        <p:spPr>
          <a:xfrm>
            <a:off x="812800" y="3111500"/>
            <a:ext cx="103759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046A38"/>
                </a:solidFill>
                <a:latin typeface="Arial"/>
                <a:ea typeface="Arial"/>
              </a:rPr>
              <a:t>核心功能覆盖</a:t>
            </a:r>
            <a:endParaRPr lang="en-US" sz="2800" noProof="1"/>
          </a:p>
        </p:txBody>
      </p:sp>
      <p:sp>
        <p:nvSpPr>
          <p:cNvPr id="6" name="el5"/>
          <p:cNvSpPr txBox="1"/>
          <p:nvPr/>
        </p:nvSpPr>
        <p:spPr>
          <a:xfrm>
            <a:off x="812800" y="3848100"/>
            <a:ext cx="103759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支持自然语言交互，完成问答、创作、翻译、改写、总结等多类任务，满足多样化内容处理需求。</a:t>
            </a:r>
            <a:endParaRPr lang="en-US" sz="2000" noProof="1"/>
          </a:p>
        </p:txBody>
      </p:sp>
      <p:sp>
        <p:nvSpPr>
          <p:cNvPr id="7" name="el6"/>
          <p:cNvSpPr txBox="1"/>
          <p:nvPr/>
        </p:nvSpPr>
        <p:spPr>
          <a:xfrm>
            <a:off x="812800" y="5143500"/>
            <a:ext cx="103759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046A38"/>
                </a:solidFill>
                <a:latin typeface="Arial"/>
                <a:ea typeface="Arial"/>
              </a:rPr>
              <a:t>模型生态集成</a:t>
            </a:r>
            <a:endParaRPr lang="en-US" sz="2800" noProof="1"/>
          </a:p>
        </p:txBody>
      </p:sp>
      <p:sp>
        <p:nvSpPr>
          <p:cNvPr id="8" name="el7"/>
          <p:cNvSpPr txBox="1"/>
          <p:nvPr/>
        </p:nvSpPr>
        <p:spPr>
          <a:xfrm>
            <a:off x="812800" y="5880100"/>
            <a:ext cx="103759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集成主流预训练大模型，支持自由切换与定期更新，保障技术持续领先；</a:t>
            </a:r>
            <a:endParaRPr lang="en-US" sz="2000" noProof="1"/>
          </a:p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提供100+模型选项，平均响应速度低于800毫秒。</a:t>
            </a:r>
            <a:endParaRPr lang="en-US" sz="2000" noProof="1"/>
          </a:p>
        </p:txBody>
      </p:sp>
      <p:sp>
        <p:nvSpPr>
          <p:cNvPr id="9" name="el8"/>
          <p:cNvSpPr txBox="1"/>
          <p:nvPr/>
        </p:nvSpPr>
        <p:spPr>
          <a:xfrm>
            <a:off x="812800" y="7175500"/>
            <a:ext cx="103759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046A38"/>
                </a:solidFill>
                <a:latin typeface="Arial"/>
                <a:ea typeface="Arial"/>
              </a:rPr>
              <a:t>性能与开源优势</a:t>
            </a:r>
            <a:endParaRPr lang="en-US" sz="2800" noProof="1"/>
          </a:p>
        </p:txBody>
      </p:sp>
      <p:sp>
        <p:nvSpPr>
          <p:cNvPr id="10" name="el9"/>
          <p:cNvSpPr txBox="1"/>
          <p:nvPr/>
        </p:nvSpPr>
        <p:spPr>
          <a:xfrm>
            <a:off x="812800" y="7912100"/>
            <a:ext cx="103759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引入优质开源模型，在保证技术先进性的同时优化响应性能，</a:t>
            </a:r>
            <a:endParaRPr lang="en-US" sz="2000" noProof="1"/>
          </a:p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实现高性价比部署；95%的任务响应时间小于1秒。</a:t>
            </a:r>
            <a:endParaRPr lang="en-US" sz="2000" noProof="1"/>
          </a:p>
        </p:txBody>
      </p:sp>
      <p:sp>
        <p:nvSpPr>
          <p:cNvPr id="11" name="el10"/>
          <p:cNvSpPr txBox="1"/>
          <p:nvPr/>
        </p:nvSpPr>
        <p:spPr>
          <a:xfrm>
            <a:off x="812800" y="9207500"/>
            <a:ext cx="103759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046A38"/>
                </a:solidFill>
                <a:latin typeface="Arial"/>
                <a:ea typeface="Arial"/>
              </a:rPr>
              <a:t>智能写作支持</a:t>
            </a:r>
            <a:endParaRPr lang="en-US" sz="2800" noProof="1"/>
          </a:p>
        </p:txBody>
      </p:sp>
      <p:sp>
        <p:nvSpPr>
          <p:cNvPr id="12" name="el11"/>
          <p:cNvSpPr txBox="1"/>
          <p:nvPr/>
        </p:nvSpPr>
        <p:spPr>
          <a:xfrm>
            <a:off x="812800" y="9944100"/>
            <a:ext cx="103759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提供结构化写作环境，支持分段编辑、AI补写和全文优化，</a:t>
            </a:r>
            <a:endParaRPr lang="en-US" sz="2000" noProof="1"/>
          </a:p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有效辅助长文本撰写与专业报告生成。</a:t>
            </a:r>
            <a:endParaRPr lang="en-US" sz="2000" noProof="1"/>
          </a:p>
        </p:txBody>
      </p:sp>
      <p:pic>
        <p:nvPicPr>
          <p:cNvPr id="13" name="el12"/>
          <p:cNvPicPr/>
          <p:nvPr/>
        </p:nvPicPr>
        <p:blipFill>
          <a:blip r:embed="rId3"/>
          <a:stretch>
            <a:fillRect/>
          </a:stretch>
        </p:blipFill>
        <p:spPr>
          <a:xfrm>
            <a:off x="12242800" y="4203700"/>
            <a:ext cx="8623300" cy="6096000"/>
          </a:xfrm>
          <a:prstGeom prst="rect">
            <a:avLst/>
          </a:prstGeom>
          <a:ln>
            <a:noFill/>
          </a:ln>
        </p:spPr>
      </p:pic>
      <p:sp>
        <p:nvSpPr>
          <p:cNvPr id="14" name="el13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7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678900" cy="12192000"/>
          </a:xfrm>
          <a:prstGeom prst="rect">
            <a:avLst/>
          </a:prstGeom>
          <a:ln>
            <a:noFill/>
          </a:ln>
        </p:spPr>
      </p:pic>
      <p:sp>
        <p:nvSpPr>
          <p:cNvPr id="3" name="el1"/>
          <p:cNvSpPr txBox="1"/>
          <p:nvPr/>
        </p:nvSpPr>
        <p:spPr>
          <a:xfrm>
            <a:off x="1219200" y="812800"/>
            <a:ext cx="192659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7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智能问答核心特性</a:t>
            </a:r>
            <a:endParaRPr lang="en-US" sz="4000" noProof="1"/>
          </a:p>
        </p:txBody>
      </p:sp>
      <p:sp>
        <p:nvSpPr>
          <p:cNvPr id="4" name="el2"/>
          <p:cNvSpPr txBox="1"/>
          <p:nvPr/>
        </p:nvSpPr>
        <p:spPr>
          <a:xfrm>
            <a:off x="1219200" y="30861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26890D"/>
                </a:solidFill>
                <a:latin typeface="Calibri"/>
                <a:ea typeface="Calibri"/>
              </a:rPr>
              <a:t>01</a:t>
            </a:r>
            <a:endParaRPr lang="en-US" sz="6600" noProof="1"/>
          </a:p>
        </p:txBody>
      </p:sp>
      <p:sp>
        <p:nvSpPr>
          <p:cNvPr id="5" name="el3"/>
          <p:cNvSpPr txBox="1"/>
          <p:nvPr/>
        </p:nvSpPr>
        <p:spPr>
          <a:xfrm>
            <a:off x="2628900" y="2628900"/>
            <a:ext cx="79121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26890D"/>
                </a:solidFill>
                <a:latin typeface="Calibri"/>
                <a:ea typeface="Calibri"/>
              </a:rPr>
              <a:t>多轮对话与上下文记忆</a:t>
            </a:r>
            <a:endParaRPr lang="en-US" sz="2600" noProof="1"/>
          </a:p>
        </p:txBody>
      </p:sp>
      <p:sp>
        <p:nvSpPr>
          <p:cNvPr id="6" name="el4"/>
          <p:cNvSpPr txBox="1"/>
          <p:nvPr/>
        </p:nvSpPr>
        <p:spPr>
          <a:xfrm>
            <a:off x="2628900" y="3187700"/>
            <a:ext cx="7912100" cy="148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3000"/>
              </a:lnSpc>
            </a:pPr>
            <a:r>
              <a:rPr lang="en-US" sz="2400" noProof="1">
                <a:solidFill>
                  <a:srgbClr val="111827"/>
                </a:solidFill>
                <a:latin typeface="Calibri"/>
                <a:ea typeface="Calibri"/>
              </a:rPr>
              <a:t>支持长期任务分阶段推进，保持对话连贯性，</a:t>
            </a:r>
            <a:endParaRPr lang="en-US" sz="2400" noProof="1"/>
          </a:p>
          <a:p>
            <a:pPr algn="l">
              <a:lnSpc>
                <a:spcPct val="133000"/>
              </a:lnSpc>
            </a:pPr>
            <a:r>
              <a:rPr lang="en-US" sz="2400" noProof="1">
                <a:solidFill>
                  <a:srgbClr val="111827"/>
                </a:solidFill>
                <a:latin typeface="Calibri"/>
                <a:ea typeface="Calibri"/>
              </a:rPr>
              <a:t>精准理解用户意图演变。在复杂任务中持续追踪上下文，</a:t>
            </a:r>
            <a:endParaRPr lang="en-US" sz="2400" noProof="1"/>
          </a:p>
          <a:p>
            <a:pPr algn="l">
              <a:lnSpc>
                <a:spcPct val="133000"/>
              </a:lnSpc>
            </a:pPr>
            <a:r>
              <a:rPr lang="en-US" sz="2400" noProof="1">
                <a:solidFill>
                  <a:srgbClr val="111827"/>
                </a:solidFill>
                <a:latin typeface="Calibri"/>
                <a:ea typeface="Calibri"/>
              </a:rPr>
              <a:t>确保每一步决策有据可依。</a:t>
            </a:r>
            <a:endParaRPr lang="en-US" sz="2400" noProof="1"/>
          </a:p>
        </p:txBody>
      </p:sp>
      <p:sp>
        <p:nvSpPr>
          <p:cNvPr id="7" name="el5"/>
          <p:cNvSpPr txBox="1"/>
          <p:nvPr/>
        </p:nvSpPr>
        <p:spPr>
          <a:xfrm>
            <a:off x="11176000" y="30861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43B02A"/>
                </a:solidFill>
                <a:latin typeface="Calibri"/>
                <a:ea typeface="Calibri"/>
              </a:rPr>
              <a:t>02</a:t>
            </a:r>
            <a:endParaRPr lang="en-US" sz="6600" noProof="1"/>
          </a:p>
        </p:txBody>
      </p:sp>
      <p:sp>
        <p:nvSpPr>
          <p:cNvPr id="8" name="el6"/>
          <p:cNvSpPr txBox="1"/>
          <p:nvPr/>
        </p:nvSpPr>
        <p:spPr>
          <a:xfrm>
            <a:off x="12585700" y="2857500"/>
            <a:ext cx="79121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43B02A"/>
                </a:solidFill>
                <a:latin typeface="Calibri"/>
                <a:ea typeface="Calibri"/>
              </a:rPr>
              <a:t>会话状态自动保存</a:t>
            </a:r>
            <a:endParaRPr lang="en-US" sz="2400" noProof="1"/>
          </a:p>
        </p:txBody>
      </p:sp>
      <p:sp>
        <p:nvSpPr>
          <p:cNvPr id="9" name="el7"/>
          <p:cNvSpPr txBox="1"/>
          <p:nvPr/>
        </p:nvSpPr>
        <p:spPr>
          <a:xfrm>
            <a:off x="12585700" y="3416300"/>
            <a:ext cx="7912100" cy="1003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3000"/>
              </a:lnSpc>
            </a:pPr>
            <a:r>
              <a:rPr lang="en-US" sz="2400" noProof="1">
                <a:solidFill>
                  <a:srgbClr val="111827"/>
                </a:solidFill>
                <a:latin typeface="Calibri"/>
                <a:ea typeface="Calibri"/>
              </a:rPr>
              <a:t>未完成任务可随时中断并恢复，无需重复输入，</a:t>
            </a:r>
            <a:endParaRPr lang="en-US" sz="2400" noProof="1"/>
          </a:p>
          <a:p>
            <a:pPr algn="l">
              <a:lnSpc>
                <a:spcPct val="133000"/>
              </a:lnSpc>
            </a:pPr>
            <a:r>
              <a:rPr lang="en-US" sz="2400" noProof="1">
                <a:solidFill>
                  <a:srgbClr val="111827"/>
                </a:solidFill>
                <a:latin typeface="Calibri"/>
                <a:ea typeface="Calibri"/>
              </a:rPr>
              <a:t>提升操作连续性。系统自动记录进度，保障任务不丢失。</a:t>
            </a:r>
            <a:endParaRPr lang="en-US" sz="2400" noProof="1"/>
          </a:p>
        </p:txBody>
      </p:sp>
      <p:sp>
        <p:nvSpPr>
          <p:cNvPr id="10" name="el8"/>
          <p:cNvSpPr txBox="1"/>
          <p:nvPr/>
        </p:nvSpPr>
        <p:spPr>
          <a:xfrm>
            <a:off x="1219200" y="64643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03</a:t>
            </a:r>
            <a:endParaRPr lang="en-US" sz="6600" noProof="1"/>
          </a:p>
        </p:txBody>
      </p:sp>
      <p:sp>
        <p:nvSpPr>
          <p:cNvPr id="11" name="el9"/>
          <p:cNvSpPr txBox="1"/>
          <p:nvPr/>
        </p:nvSpPr>
        <p:spPr>
          <a:xfrm>
            <a:off x="2628900" y="6248400"/>
            <a:ext cx="79121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86BC25"/>
                </a:solidFill>
                <a:latin typeface="Calibri"/>
                <a:ea typeface="Calibri"/>
              </a:rPr>
              <a:t>历史会话可追溯</a:t>
            </a:r>
            <a:endParaRPr lang="en-US" sz="2400" noProof="1"/>
          </a:p>
        </p:txBody>
      </p:sp>
      <p:sp>
        <p:nvSpPr>
          <p:cNvPr id="12" name="el10"/>
          <p:cNvSpPr txBox="1"/>
          <p:nvPr/>
        </p:nvSpPr>
        <p:spPr>
          <a:xfrm>
            <a:off x="2628900" y="6807200"/>
            <a:ext cx="7912100" cy="1003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3000"/>
              </a:lnSpc>
            </a:pPr>
            <a:r>
              <a:rPr lang="en-US" sz="2400" noProof="1">
                <a:solidFill>
                  <a:srgbClr val="111827"/>
                </a:solidFill>
                <a:latin typeface="Calibri"/>
                <a:ea typeface="Calibri"/>
              </a:rPr>
              <a:t>所有对话记录可查可复用，便于复盘分析与团队协作，</a:t>
            </a:r>
            <a:endParaRPr lang="en-US" sz="2400" noProof="1"/>
          </a:p>
          <a:p>
            <a:pPr algn="l">
              <a:lnSpc>
                <a:spcPct val="133000"/>
              </a:lnSpc>
            </a:pPr>
            <a:r>
              <a:rPr lang="en-US" sz="2400" noProof="1">
                <a:solidFill>
                  <a:srgbClr val="111827"/>
                </a:solidFill>
                <a:latin typeface="Calibri"/>
                <a:ea typeface="Calibri"/>
              </a:rPr>
              <a:t>支持知识沉淀，提升工作透明度与协同效率。</a:t>
            </a:r>
            <a:endParaRPr lang="en-US" sz="2400" noProof="1"/>
          </a:p>
        </p:txBody>
      </p:sp>
      <p:sp>
        <p:nvSpPr>
          <p:cNvPr id="13" name="el11"/>
          <p:cNvSpPr txBox="1"/>
          <p:nvPr/>
        </p:nvSpPr>
        <p:spPr>
          <a:xfrm>
            <a:off x="11176000" y="64643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53565A"/>
                </a:solidFill>
                <a:latin typeface="Calibri"/>
                <a:ea typeface="Calibri"/>
              </a:rPr>
              <a:t>04</a:t>
            </a:r>
            <a:endParaRPr lang="en-US" sz="6600" noProof="1"/>
          </a:p>
        </p:txBody>
      </p:sp>
      <p:sp>
        <p:nvSpPr>
          <p:cNvPr id="14" name="el12"/>
          <p:cNvSpPr txBox="1"/>
          <p:nvPr/>
        </p:nvSpPr>
        <p:spPr>
          <a:xfrm>
            <a:off x="12585700" y="6248400"/>
            <a:ext cx="79121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53565A"/>
                </a:solidFill>
                <a:latin typeface="Calibri"/>
                <a:ea typeface="Calibri"/>
              </a:rPr>
              <a:t>双模式界面切换</a:t>
            </a:r>
            <a:endParaRPr lang="en-US" sz="2400" noProof="1"/>
          </a:p>
        </p:txBody>
      </p:sp>
      <p:sp>
        <p:nvSpPr>
          <p:cNvPr id="15" name="el13"/>
          <p:cNvSpPr txBox="1"/>
          <p:nvPr/>
        </p:nvSpPr>
        <p:spPr>
          <a:xfrm>
            <a:off x="12585700" y="6807200"/>
            <a:ext cx="7912100" cy="1003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3000"/>
              </a:lnSpc>
            </a:pPr>
            <a:r>
              <a:rPr lang="en-US" sz="2400" noProof="1">
                <a:solidFill>
                  <a:srgbClr val="111827"/>
                </a:solidFill>
                <a:latin typeface="Calibri"/>
                <a:ea typeface="Calibri"/>
              </a:rPr>
              <a:t>简洁模式满足快速操作，高级模式支持深度定制与复杂功能，</a:t>
            </a:r>
            <a:endParaRPr lang="en-US" sz="2400" noProof="1"/>
          </a:p>
          <a:p>
            <a:pPr algn="l">
              <a:lnSpc>
                <a:spcPct val="133000"/>
              </a:lnSpc>
            </a:pPr>
            <a:r>
              <a:rPr lang="en-US" sz="2400" noProof="1">
                <a:solidFill>
                  <a:srgbClr val="111827"/>
                </a:solidFill>
                <a:latin typeface="Calibri"/>
                <a:ea typeface="Calibri"/>
              </a:rPr>
              <a:t>灵活适配不同用户需求与使用场景。</a:t>
            </a:r>
            <a:endParaRPr lang="en-US" sz="2400" noProof="1"/>
          </a:p>
        </p:txBody>
      </p:sp>
      <p:sp>
        <p:nvSpPr>
          <p:cNvPr id="16" name="el14"/>
          <p:cNvSpPr txBox="1"/>
          <p:nvPr/>
        </p:nvSpPr>
        <p:spPr>
          <a:xfrm>
            <a:off x="1219200" y="96012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0D8390"/>
                </a:solidFill>
                <a:latin typeface="Calibri"/>
                <a:ea typeface="Calibri"/>
              </a:rPr>
              <a:t>05</a:t>
            </a:r>
            <a:endParaRPr lang="en-US" sz="6600" noProof="1"/>
          </a:p>
        </p:txBody>
      </p:sp>
      <p:sp>
        <p:nvSpPr>
          <p:cNvPr id="17" name="el15"/>
          <p:cNvSpPr txBox="1"/>
          <p:nvPr/>
        </p:nvSpPr>
        <p:spPr>
          <a:xfrm>
            <a:off x="2628900" y="9385300"/>
            <a:ext cx="79121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0D8390"/>
                </a:solidFill>
                <a:latin typeface="Calibri"/>
                <a:ea typeface="Calibri"/>
              </a:rPr>
              <a:t>任务导向设计</a:t>
            </a:r>
            <a:endParaRPr lang="en-US" sz="2400" noProof="1"/>
          </a:p>
        </p:txBody>
      </p:sp>
      <p:sp>
        <p:nvSpPr>
          <p:cNvPr id="18" name="el16"/>
          <p:cNvSpPr txBox="1"/>
          <p:nvPr/>
        </p:nvSpPr>
        <p:spPr>
          <a:xfrm>
            <a:off x="2628900" y="9944100"/>
            <a:ext cx="7912100" cy="1003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3000"/>
              </a:lnSpc>
            </a:pPr>
            <a:r>
              <a:rPr lang="en-US" sz="2400" noProof="1">
                <a:solidFill>
                  <a:srgbClr val="111827"/>
                </a:solidFill>
                <a:latin typeface="Calibri"/>
                <a:ea typeface="Calibri"/>
              </a:rPr>
              <a:t>聚焦具体工作目标，引导用户高效完成任务，</a:t>
            </a:r>
            <a:endParaRPr lang="en-US" sz="2400" noProof="1"/>
          </a:p>
          <a:p>
            <a:pPr algn="l">
              <a:lnSpc>
                <a:spcPct val="133000"/>
              </a:lnSpc>
            </a:pPr>
            <a:r>
              <a:rPr lang="en-US" sz="2400" noProof="1">
                <a:solidFill>
                  <a:srgbClr val="111827"/>
                </a:solidFill>
                <a:latin typeface="Calibri"/>
                <a:ea typeface="Calibri"/>
              </a:rPr>
              <a:t>减少无效交互，显著提升执行效率与结果达成率。</a:t>
            </a:r>
            <a:endParaRPr lang="en-US" sz="2400" noProof="1"/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1219200" y="812800"/>
            <a:ext cx="192659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90000"/>
              </a:lnSpc>
            </a:pPr>
            <a:r>
              <a:rPr lang="en-US" sz="3600" noProof="1" b="1">
                <a:solidFill>
                  <a:srgbClr val="111827"/>
                </a:solidFill>
                <a:latin typeface="Noto Sans SC"/>
                <a:ea typeface="Noto Sans SC"/>
              </a:rPr>
              <a:t>知识管理模块功能</a:t>
            </a:r>
            <a:endParaRPr lang="en-US" sz="3600" noProof="1"/>
          </a:p>
        </p:txBody>
      </p:sp>
      <p:sp>
        <p:nvSpPr>
          <p:cNvPr id="3" name="el2"/>
          <p:cNvSpPr txBox="1"/>
          <p:nvPr/>
        </p:nvSpPr>
        <p:spPr>
          <a:xfrm>
            <a:off x="1219200" y="1739900"/>
            <a:ext cx="192659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6B7280"/>
                </a:solidFill>
                <a:latin typeface="Calibri"/>
                <a:ea typeface="Calibri"/>
              </a:rPr>
              <a:t>构建企业级知识库</a:t>
            </a:r>
            <a:endParaRPr lang="en-US" sz="2200" noProof="1"/>
          </a:p>
        </p:txBody>
      </p:sp>
      <p:sp>
        <p:nvSpPr>
          <p:cNvPr id="4" name="el3"/>
          <p:cNvSpPr/>
          <p:nvPr/>
        </p:nvSpPr>
        <p:spPr>
          <a:xfrm>
            <a:off x="1219200" y="2844800"/>
            <a:ext cx="14427200" cy="3314700"/>
          </a:xfrm>
          <a:prstGeom prst="roundRect">
            <a:avLst>
              <a:gd name="adj" fmla="val 3061"/>
            </a:avLst>
          </a:prstGeom>
          <a:solidFill>
            <a:srgbClr val="F2F2F2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el4"/>
          <p:cNvSpPr/>
          <p:nvPr/>
        </p:nvSpPr>
        <p:spPr>
          <a:xfrm>
            <a:off x="1219200" y="2844800"/>
            <a:ext cx="14427200" cy="63500"/>
          </a:xfrm>
          <a:prstGeom prst="roundRect">
            <a:avLst>
              <a:gd name="adj" fmla="val 150000"/>
            </a:avLst>
          </a:prstGeom>
          <a:solidFill>
            <a:srgbClr val="86BC25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6" name="el5"/>
          <p:cNvSpPr txBox="1"/>
          <p:nvPr/>
        </p:nvSpPr>
        <p:spPr>
          <a:xfrm>
            <a:off x="1562100" y="3187700"/>
            <a:ext cx="13779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9090B"/>
                </a:solidFill>
                <a:latin typeface="Noto Sans SC"/>
                <a:ea typeface="Noto Sans SC"/>
              </a:rPr>
              <a:t>统一知识资产管理</a:t>
            </a:r>
            <a:endParaRPr lang="en-US" sz="2000" noProof="1"/>
          </a:p>
        </p:txBody>
      </p:sp>
      <p:sp>
        <p:nvSpPr>
          <p:cNvPr id="7" name="el6"/>
          <p:cNvSpPr txBox="1"/>
          <p:nvPr/>
        </p:nvSpPr>
        <p:spPr>
          <a:xfrm>
            <a:off x="1562100" y="38227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集中管理企业知识资产，支持多源数据整合</a:t>
            </a:r>
            <a:endParaRPr lang="en-US" sz="2000" noProof="1"/>
          </a:p>
        </p:txBody>
      </p:sp>
      <p:sp>
        <p:nvSpPr>
          <p:cNvPr id="8" name="el7"/>
          <p:cNvSpPr txBox="1"/>
          <p:nvPr/>
        </p:nvSpPr>
        <p:spPr>
          <a:xfrm>
            <a:off x="1562100" y="44069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自动提取文档摘要、生成标签与问答对，降低维护成本</a:t>
            </a:r>
            <a:endParaRPr lang="en-US" sz="2000" noProof="1"/>
          </a:p>
        </p:txBody>
      </p:sp>
      <p:sp>
        <p:nvSpPr>
          <p:cNvPr id="9" name="el8"/>
          <p:cNvSpPr txBox="1"/>
          <p:nvPr/>
        </p:nvSpPr>
        <p:spPr>
          <a:xfrm>
            <a:off x="1562100" y="49657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支持自定义分段策略，提升知识检索精准度</a:t>
            </a:r>
            <a:endParaRPr lang="en-US" sz="2000" noProof="1"/>
          </a:p>
        </p:txBody>
      </p:sp>
      <p:sp>
        <p:nvSpPr>
          <p:cNvPr id="10" name="el9"/>
          <p:cNvSpPr txBox="1"/>
          <p:nvPr/>
        </p:nvSpPr>
        <p:spPr>
          <a:xfrm>
            <a:off x="1562100" y="55372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兼容Word、Excel、PPT、TXT等主流格式，实现无缝上传</a:t>
            </a:r>
            <a:endParaRPr lang="en-US" sz="2000" noProof="1"/>
          </a:p>
        </p:txBody>
      </p:sp>
      <p:sp>
        <p:nvSpPr>
          <p:cNvPr id="11" name="el10"/>
          <p:cNvSpPr/>
          <p:nvPr/>
        </p:nvSpPr>
        <p:spPr>
          <a:xfrm>
            <a:off x="1219200" y="6451600"/>
            <a:ext cx="14427200" cy="3314700"/>
          </a:xfrm>
          <a:prstGeom prst="roundRect">
            <a:avLst>
              <a:gd name="adj" fmla="val 3061"/>
            </a:avLst>
          </a:prstGeom>
          <a:solidFill>
            <a:srgbClr val="F2F2F2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2" name="el11"/>
          <p:cNvSpPr/>
          <p:nvPr/>
        </p:nvSpPr>
        <p:spPr>
          <a:xfrm>
            <a:off x="1219200" y="6451600"/>
            <a:ext cx="14427200" cy="63500"/>
          </a:xfrm>
          <a:prstGeom prst="roundRect">
            <a:avLst>
              <a:gd name="adj" fmla="val 150000"/>
            </a:avLst>
          </a:prstGeom>
          <a:solidFill>
            <a:srgbClr val="86BC25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3" name="el12"/>
          <p:cNvSpPr txBox="1"/>
          <p:nvPr/>
        </p:nvSpPr>
        <p:spPr>
          <a:xfrm>
            <a:off x="1562100" y="6794500"/>
            <a:ext cx="13779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9090B"/>
                </a:solidFill>
                <a:latin typeface="Noto Sans SC"/>
                <a:ea typeface="Noto Sans SC"/>
              </a:rPr>
              <a:t>高效知识构建</a:t>
            </a:r>
            <a:endParaRPr lang="en-US" sz="2000" noProof="1"/>
          </a:p>
        </p:txBody>
      </p:sp>
      <p:sp>
        <p:nvSpPr>
          <p:cNvPr id="14" name="el13"/>
          <p:cNvSpPr txBox="1"/>
          <p:nvPr/>
        </p:nvSpPr>
        <p:spPr>
          <a:xfrm>
            <a:off x="1562100" y="74295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支持问答对形式录入，快速构建专业领域知识库</a:t>
            </a:r>
            <a:endParaRPr lang="en-US" sz="2000" noProof="1"/>
          </a:p>
        </p:txBody>
      </p:sp>
      <p:sp>
        <p:nvSpPr>
          <p:cNvPr id="15" name="el14"/>
          <p:cNvSpPr txBox="1"/>
          <p:nvPr/>
        </p:nvSpPr>
        <p:spPr>
          <a:xfrm>
            <a:off x="1562100" y="79883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灵活适配业务场景，加速知识沉淀与复用</a:t>
            </a:r>
            <a:endParaRPr lang="en-US" sz="2000" noProof="1"/>
          </a:p>
        </p:txBody>
      </p:sp>
      <p:sp>
        <p:nvSpPr>
          <p:cNvPr id="16" name="el15"/>
          <p:cNvSpPr txBox="1"/>
          <p:nvPr/>
        </p:nvSpPr>
        <p:spPr>
          <a:xfrm>
            <a:off x="1562100" y="85725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保障知识一致性与可追溯性，支撑体系持续演进</a:t>
            </a:r>
            <a:endParaRPr lang="en-US" sz="2000" noProof="1"/>
          </a:p>
        </p:txBody>
      </p:sp>
      <p:sp>
        <p:nvSpPr>
          <p:cNvPr id="17" name="el16"/>
          <p:cNvSpPr txBox="1"/>
          <p:nvPr/>
        </p:nvSpPr>
        <p:spPr>
          <a:xfrm>
            <a:off x="1562100" y="91313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支持多角色协作，提升知识共建效率</a:t>
            </a:r>
            <a:endParaRPr lang="en-US" sz="2000" noProof="1"/>
          </a:p>
        </p:txBody>
      </p:sp>
      <p:sp>
        <p:nvSpPr>
          <p:cNvPr id="18" name="el17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19" name="el18"/>
          <p:cNvPicPr/>
          <p:nvPr/>
        </p:nvPicPr>
        <p:blipFill>
          <a:blip r:embed="rId2"/>
          <a:stretch>
            <a:fillRect/>
          </a:stretch>
        </p:blipFill>
        <p:spPr>
          <a:xfrm>
            <a:off x="16256000" y="0"/>
            <a:ext cx="5422900" cy="12192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1219200" y="812800"/>
            <a:ext cx="192659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90000"/>
              </a:lnSpc>
            </a:pPr>
            <a:r>
              <a:rPr lang="en-US" sz="4000" noProof="1" b="1">
                <a:solidFill>
                  <a:srgbClr val="111827"/>
                </a:solidFill>
                <a:latin typeface="Noto Sans SC"/>
                <a:ea typeface="Noto Sans SC"/>
              </a:rPr>
              <a:t>智能检索与知识复用</a:t>
            </a:r>
            <a:endParaRPr lang="en-US" sz="4000" noProof="1"/>
          </a:p>
        </p:txBody>
      </p:sp>
      <p:sp>
        <p:nvSpPr>
          <p:cNvPr id="3" name="el2"/>
          <p:cNvSpPr txBox="1"/>
          <p:nvPr/>
        </p:nvSpPr>
        <p:spPr>
          <a:xfrm>
            <a:off x="1219200" y="1828800"/>
            <a:ext cx="192659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6B7280"/>
                </a:solidFill>
                <a:latin typeface="Calibri"/>
                <a:ea typeface="Calibri"/>
              </a:rPr>
              <a:t>语义理解驱动高效发现</a:t>
            </a:r>
            <a:endParaRPr lang="en-US" sz="2000" noProof="1"/>
          </a:p>
        </p:txBody>
      </p:sp>
      <p:sp>
        <p:nvSpPr>
          <p:cNvPr id="4" name="el3"/>
          <p:cNvSpPr/>
          <p:nvPr/>
        </p:nvSpPr>
        <p:spPr>
          <a:xfrm>
            <a:off x="1219200" y="2882900"/>
            <a:ext cx="8013700" cy="1028700"/>
          </a:xfrm>
          <a:prstGeom prst="roundRect">
            <a:avLst>
              <a:gd name="adj" fmla="val 13114"/>
            </a:avLst>
          </a:prstGeom>
          <a:solidFill>
            <a:srgbClr val="26890D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el4"/>
          <p:cNvSpPr txBox="1"/>
          <p:nvPr/>
        </p:nvSpPr>
        <p:spPr>
          <a:xfrm>
            <a:off x="1562100" y="3176270"/>
            <a:ext cx="73660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90000"/>
              </a:lnSpc>
            </a:pPr>
            <a:r>
              <a:rPr lang="en-US" sz="3200" noProof="1" b="1">
                <a:solidFill>
                  <a:srgbClr val="111827"/>
                </a:solidFill>
                <a:latin typeface="Calibri"/>
                <a:ea typeface="Calibri"/>
              </a:rPr>
              <a:t>突破关键词匹配局限</a:t>
            </a:r>
            <a:endParaRPr lang="en-US" sz="2200" noProof="1"/>
          </a:p>
        </p:txBody>
      </p:sp>
      <p:sp>
        <p:nvSpPr>
          <p:cNvPr id="6" name="el5"/>
          <p:cNvSpPr txBox="1"/>
          <p:nvPr/>
        </p:nvSpPr>
        <p:spPr>
          <a:xfrm>
            <a:off x="9537700" y="3112770"/>
            <a:ext cx="107188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374151"/>
                </a:solidFill>
                <a:latin typeface="Calibri"/>
                <a:ea typeface="Calibri"/>
              </a:rPr>
              <a:t>基于语义理解精准捕捉用户意图，提升检索准确率</a:t>
            </a:r>
            <a:endParaRPr lang="en-US" sz="2000" noProof="1"/>
          </a:p>
        </p:txBody>
      </p:sp>
      <p:sp>
        <p:nvSpPr>
          <p:cNvPr id="7" name="el6"/>
          <p:cNvSpPr/>
          <p:nvPr/>
        </p:nvSpPr>
        <p:spPr>
          <a:xfrm>
            <a:off x="1219200" y="4178300"/>
            <a:ext cx="8013700" cy="1028700"/>
          </a:xfrm>
          <a:prstGeom prst="roundRect">
            <a:avLst>
              <a:gd name="adj" fmla="val 13114"/>
            </a:avLst>
          </a:prstGeom>
          <a:solidFill>
            <a:srgbClr val="26890D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el7"/>
          <p:cNvSpPr txBox="1"/>
          <p:nvPr/>
        </p:nvSpPr>
        <p:spPr>
          <a:xfrm>
            <a:off x="1562100" y="4486910"/>
            <a:ext cx="73660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90000"/>
              </a:lnSpc>
            </a:pPr>
            <a:r>
              <a:rPr lang="en-US" sz="3200" noProof="1" b="1">
                <a:solidFill>
                  <a:srgbClr val="333333"/>
                </a:solidFill>
                <a:latin typeface="Calibri"/>
                <a:ea typeface="Calibri"/>
              </a:rPr>
              <a:t>跨文档关联分析</a:t>
            </a:r>
            <a:endParaRPr lang="en-US" sz="2200" noProof="1"/>
          </a:p>
        </p:txBody>
      </p:sp>
      <p:sp>
        <p:nvSpPr>
          <p:cNvPr id="9" name="el8"/>
          <p:cNvSpPr txBox="1"/>
          <p:nvPr/>
        </p:nvSpPr>
        <p:spPr>
          <a:xfrm>
            <a:off x="9537700" y="4423410"/>
            <a:ext cx="107188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374151"/>
                </a:solidFill>
                <a:latin typeface="Calibri"/>
                <a:ea typeface="Calibri"/>
              </a:rPr>
              <a:t>自动识别文档间隐含关系，构建知识网络</a:t>
            </a:r>
            <a:endParaRPr lang="en-US" sz="2000" noProof="1"/>
          </a:p>
        </p:txBody>
      </p:sp>
      <p:sp>
        <p:nvSpPr>
          <p:cNvPr id="10" name="el9"/>
          <p:cNvSpPr/>
          <p:nvPr/>
        </p:nvSpPr>
        <p:spPr>
          <a:xfrm>
            <a:off x="1219200" y="5486400"/>
            <a:ext cx="8013700" cy="1028700"/>
          </a:xfrm>
          <a:prstGeom prst="roundRect">
            <a:avLst>
              <a:gd name="adj" fmla="val 13114"/>
            </a:avLst>
          </a:prstGeom>
          <a:solidFill>
            <a:srgbClr val="26890D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1" name="el10"/>
          <p:cNvSpPr txBox="1"/>
          <p:nvPr/>
        </p:nvSpPr>
        <p:spPr>
          <a:xfrm>
            <a:off x="1562100" y="5749290"/>
            <a:ext cx="73660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90000"/>
              </a:lnSpc>
            </a:pPr>
            <a:r>
              <a:rPr lang="en-US" sz="3200" noProof="1" b="1">
                <a:solidFill>
                  <a:srgbClr val="333333"/>
                </a:solidFill>
                <a:latin typeface="Calibri"/>
                <a:ea typeface="Calibri"/>
              </a:rPr>
              <a:t>支持智能体动态调用</a:t>
            </a:r>
            <a:endParaRPr lang="en-US" sz="2200" noProof="1"/>
          </a:p>
        </p:txBody>
      </p:sp>
      <p:sp>
        <p:nvSpPr>
          <p:cNvPr id="12" name="el11"/>
          <p:cNvSpPr txBox="1"/>
          <p:nvPr/>
        </p:nvSpPr>
        <p:spPr>
          <a:xfrm>
            <a:off x="9537700" y="5749290"/>
            <a:ext cx="107188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374151"/>
                </a:solidFill>
                <a:latin typeface="Calibri"/>
                <a:ea typeface="Calibri"/>
              </a:rPr>
              <a:t>知识条目可被智能体和提示词模板调用，实现复用</a:t>
            </a:r>
            <a:endParaRPr lang="en-US" sz="2000" noProof="1"/>
          </a:p>
        </p:txBody>
      </p:sp>
      <p:sp>
        <p:nvSpPr>
          <p:cNvPr id="13" name="el12"/>
          <p:cNvSpPr/>
          <p:nvPr/>
        </p:nvSpPr>
        <p:spPr>
          <a:xfrm>
            <a:off x="1219200" y="6769100"/>
            <a:ext cx="8013700" cy="1028700"/>
          </a:xfrm>
          <a:prstGeom prst="roundRect">
            <a:avLst>
              <a:gd name="adj" fmla="val 13114"/>
            </a:avLst>
          </a:prstGeom>
          <a:solidFill>
            <a:srgbClr val="26890D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4" name="el13"/>
          <p:cNvSpPr txBox="1"/>
          <p:nvPr/>
        </p:nvSpPr>
        <p:spPr>
          <a:xfrm>
            <a:off x="1562100" y="7031990"/>
            <a:ext cx="73660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90000"/>
              </a:lnSpc>
            </a:pPr>
            <a:r>
              <a:rPr lang="en-US" sz="3200" noProof="1" b="1">
                <a:solidFill>
                  <a:srgbClr val="333333"/>
                </a:solidFill>
                <a:latin typeface="Calibri"/>
                <a:ea typeface="Calibri"/>
              </a:rPr>
              <a:t>促进组织知识沉淀</a:t>
            </a:r>
            <a:endParaRPr lang="en-US" sz="2200" noProof="1"/>
          </a:p>
        </p:txBody>
      </p:sp>
      <p:sp>
        <p:nvSpPr>
          <p:cNvPr id="15" name="el14"/>
          <p:cNvSpPr txBox="1"/>
          <p:nvPr/>
        </p:nvSpPr>
        <p:spPr>
          <a:xfrm>
            <a:off x="9537700" y="6968490"/>
            <a:ext cx="107188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374151"/>
                </a:solidFill>
                <a:latin typeface="Calibri"/>
                <a:ea typeface="Calibri"/>
              </a:rPr>
              <a:t>系统化积累最佳实践与项目经验，支持全员共享</a:t>
            </a:r>
            <a:endParaRPr lang="en-US" sz="2000" noProof="1"/>
          </a:p>
        </p:txBody>
      </p:sp>
      <p:sp>
        <p:nvSpPr>
          <p:cNvPr id="16" name="el15"/>
          <p:cNvSpPr/>
          <p:nvPr/>
        </p:nvSpPr>
        <p:spPr>
          <a:xfrm>
            <a:off x="1219200" y="8077200"/>
            <a:ext cx="8013700" cy="1028700"/>
          </a:xfrm>
          <a:prstGeom prst="roundRect">
            <a:avLst>
              <a:gd name="adj" fmla="val 13114"/>
            </a:avLst>
          </a:prstGeom>
          <a:solidFill>
            <a:srgbClr val="26890D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7" name="el16"/>
          <p:cNvSpPr txBox="1"/>
          <p:nvPr/>
        </p:nvSpPr>
        <p:spPr>
          <a:xfrm>
            <a:off x="1562100" y="8373110"/>
            <a:ext cx="73660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90000"/>
              </a:lnSpc>
            </a:pPr>
            <a:r>
              <a:rPr lang="en-US" sz="3200" noProof="1" b="1">
                <a:solidFill>
                  <a:srgbClr val="333333"/>
                </a:solidFill>
                <a:latin typeface="Calibri"/>
                <a:ea typeface="Calibri"/>
              </a:rPr>
              <a:t>赋能新人与项目启动</a:t>
            </a:r>
            <a:endParaRPr lang="en-US" sz="2200" noProof="1"/>
          </a:p>
        </p:txBody>
      </p:sp>
      <p:sp>
        <p:nvSpPr>
          <p:cNvPr id="18" name="el17"/>
          <p:cNvSpPr txBox="1"/>
          <p:nvPr/>
        </p:nvSpPr>
        <p:spPr>
          <a:xfrm>
            <a:off x="9537700" y="8246110"/>
            <a:ext cx="107188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374151"/>
                </a:solidFill>
                <a:latin typeface="Calibri"/>
                <a:ea typeface="Calibri"/>
              </a:rPr>
              <a:t>提供即用型知识支持，缩短学习与启动周期</a:t>
            </a:r>
            <a:endParaRPr lang="en-US" sz="2000" noProof="1"/>
          </a:p>
        </p:txBody>
      </p:sp>
      <p:pic>
        <p:nvPicPr>
          <p:cNvPr id="19" name="el18"/>
          <p:cNvPicPr/>
          <p:nvPr/>
        </p:nvPicPr>
        <p:blipFill>
          <a:blip r:embed="rId2"/>
          <a:stretch>
            <a:fillRect/>
          </a:stretch>
        </p:blipFill>
        <p:spPr>
          <a:xfrm>
            <a:off x="12141200" y="0"/>
            <a:ext cx="9537700" cy="2438400"/>
          </a:xfrm>
          <a:prstGeom prst="rect">
            <a:avLst/>
          </a:prstGeom>
          <a:ln>
            <a:noFill/>
          </a:ln>
        </p:spPr>
      </p:pic>
      <p:pic>
        <p:nvPicPr>
          <p:cNvPr id="20" name="el19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9753600"/>
            <a:ext cx="9537700" cy="2438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546100" y="546100"/>
            <a:ext cx="20624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共创智能集市概览</a:t>
            </a:r>
            <a:endParaRPr lang="en-US" sz="4000" noProof="1"/>
          </a:p>
        </p:txBody>
      </p:sp>
      <p:sp>
        <p:nvSpPr>
          <p:cNvPr id="4" name="el3"/>
          <p:cNvSpPr txBox="1"/>
          <p:nvPr/>
        </p:nvSpPr>
        <p:spPr>
          <a:xfrm>
            <a:off x="546100" y="1524000"/>
            <a:ext cx="20624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统一入口，畅享AI能力资源</a:t>
            </a:r>
            <a:endParaRPr lang="en-US" sz="2400" noProof="1"/>
          </a:p>
        </p:txBody>
      </p:sp>
      <p:sp>
        <p:nvSpPr>
          <p:cNvPr id="5" name="el4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sp>
        <p:nvSpPr>
          <p:cNvPr id="6" name="el5"/>
          <p:cNvSpPr/>
          <p:nvPr/>
        </p:nvSpPr>
        <p:spPr>
          <a:xfrm>
            <a:off x="749300" y="2705100"/>
            <a:ext cx="4584700" cy="609600"/>
          </a:xfrm>
          <a:prstGeom prst="roundRect">
            <a:avLst>
              <a:gd name="adj" fmla="val 11111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7" name="el6"/>
          <p:cNvSpPr txBox="1"/>
          <p:nvPr/>
        </p:nvSpPr>
        <p:spPr>
          <a:xfrm>
            <a:off x="749300" y="2705100"/>
            <a:ext cx="45847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集成提示词模板</a:t>
            </a:r>
            <a:endParaRPr lang="en-US" sz="1600" noProof="1"/>
          </a:p>
        </p:txBody>
      </p:sp>
      <p:pic>
        <p:nvPicPr>
          <p:cNvPr id="8" name="el7"/>
          <p:cNvPicPr/>
          <p:nvPr/>
        </p:nvPicPr>
        <p:blipFill>
          <a:blip r:embed="rId3"/>
          <a:stretch>
            <a:fillRect/>
          </a:stretch>
        </p:blipFill>
        <p:spPr>
          <a:xfrm>
            <a:off x="5473700" y="2844800"/>
            <a:ext cx="342900" cy="342900"/>
          </a:xfrm>
          <a:prstGeom prst="rect">
            <a:avLst/>
          </a:prstGeom>
          <a:ln>
            <a:noFill/>
          </a:ln>
        </p:spPr>
      </p:pic>
      <p:sp>
        <p:nvSpPr>
          <p:cNvPr id="9" name="el8"/>
          <p:cNvSpPr/>
          <p:nvPr/>
        </p:nvSpPr>
        <p:spPr>
          <a:xfrm>
            <a:off x="5943600" y="2705100"/>
            <a:ext cx="4584700" cy="609600"/>
          </a:xfrm>
          <a:prstGeom prst="roundRect">
            <a:avLst>
              <a:gd name="adj" fmla="val 11111"/>
            </a:avLst>
          </a:prstGeom>
          <a:solidFill>
            <a:srgbClr val="046A38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10" name="el9"/>
          <p:cNvSpPr txBox="1"/>
          <p:nvPr/>
        </p:nvSpPr>
        <p:spPr>
          <a:xfrm>
            <a:off x="5943600" y="2705100"/>
            <a:ext cx="45847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智能体与知识库</a:t>
            </a:r>
            <a:endParaRPr lang="en-US" sz="1600" noProof="1"/>
          </a:p>
        </p:txBody>
      </p:sp>
      <p:pic>
        <p:nvPicPr>
          <p:cNvPr id="11" name="el10"/>
          <p:cNvPicPr/>
          <p:nvPr/>
        </p:nvPicPr>
        <p:blipFill>
          <a:blip r:embed="rId4"/>
          <a:stretch>
            <a:fillRect/>
          </a:stretch>
        </p:blipFill>
        <p:spPr>
          <a:xfrm>
            <a:off x="10668000" y="2844800"/>
            <a:ext cx="342900" cy="342900"/>
          </a:xfrm>
          <a:prstGeom prst="rect">
            <a:avLst/>
          </a:prstGeom>
          <a:ln>
            <a:noFill/>
          </a:ln>
        </p:spPr>
      </p:pic>
      <p:sp>
        <p:nvSpPr>
          <p:cNvPr id="12" name="el11"/>
          <p:cNvSpPr/>
          <p:nvPr/>
        </p:nvSpPr>
        <p:spPr>
          <a:xfrm>
            <a:off x="11137900" y="2705100"/>
            <a:ext cx="4584700" cy="609600"/>
          </a:xfrm>
          <a:prstGeom prst="roundRect">
            <a:avLst>
              <a:gd name="adj" fmla="val 11111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13" name="el12"/>
          <p:cNvSpPr txBox="1"/>
          <p:nvPr/>
        </p:nvSpPr>
        <p:spPr>
          <a:xfrm>
            <a:off x="11137900" y="2705100"/>
            <a:ext cx="45847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打造AI服务生态</a:t>
            </a:r>
            <a:endParaRPr lang="en-US" sz="1600" noProof="1"/>
          </a:p>
        </p:txBody>
      </p:sp>
      <p:pic>
        <p:nvPicPr>
          <p:cNvPr id="14" name="el13"/>
          <p:cNvPicPr/>
          <p:nvPr/>
        </p:nvPicPr>
        <p:blipFill>
          <a:blip r:embed="rId5"/>
          <a:stretch>
            <a:fillRect/>
          </a:stretch>
        </p:blipFill>
        <p:spPr>
          <a:xfrm>
            <a:off x="15862300" y="2844800"/>
            <a:ext cx="342900" cy="342900"/>
          </a:xfrm>
          <a:prstGeom prst="rect">
            <a:avLst/>
          </a:prstGeom>
          <a:ln>
            <a:noFill/>
          </a:ln>
        </p:spPr>
      </p:pic>
      <p:sp>
        <p:nvSpPr>
          <p:cNvPr id="15" name="el14"/>
          <p:cNvSpPr/>
          <p:nvPr/>
        </p:nvSpPr>
        <p:spPr>
          <a:xfrm>
            <a:off x="16344900" y="2705100"/>
            <a:ext cx="4584700" cy="609600"/>
          </a:xfrm>
          <a:prstGeom prst="roundRect">
            <a:avLst>
              <a:gd name="adj" fmla="val 11111"/>
            </a:avLst>
          </a:prstGeom>
          <a:solidFill>
            <a:srgbClr val="046A38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16" name="el15"/>
          <p:cNvSpPr txBox="1"/>
          <p:nvPr/>
        </p:nvSpPr>
        <p:spPr>
          <a:xfrm>
            <a:off x="16344900" y="2705100"/>
            <a:ext cx="45847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支持收藏与复用</a:t>
            </a:r>
            <a:endParaRPr lang="en-US" sz="1600" noProof="1"/>
          </a:p>
        </p:txBody>
      </p:sp>
      <p:sp>
        <p:nvSpPr>
          <p:cNvPr id="17" name="el16"/>
          <p:cNvSpPr txBox="1"/>
          <p:nvPr/>
        </p:nvSpPr>
        <p:spPr>
          <a:xfrm>
            <a:off x="546100" y="3454400"/>
            <a:ext cx="20624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>
                <a:solidFill>
                  <a:srgbClr val="374151"/>
                </a:solidFill>
                <a:latin typeface="Arial"/>
                <a:ea typeface="Arial"/>
              </a:rPr>
              <a:t>核心功能亮点</a:t>
            </a:r>
            <a:endParaRPr lang="en-US" sz="1800" noProof="1"/>
          </a:p>
        </p:txBody>
      </p:sp>
      <p:sp>
        <p:nvSpPr>
          <p:cNvPr id="18" name="el17"/>
          <p:cNvSpPr/>
          <p:nvPr/>
        </p:nvSpPr>
        <p:spPr>
          <a:xfrm>
            <a:off x="546100" y="4267200"/>
            <a:ext cx="30480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9" name="el18"/>
          <p:cNvSpPr txBox="1"/>
          <p:nvPr/>
        </p:nvSpPr>
        <p:spPr>
          <a:xfrm>
            <a:off x="749300" y="4470400"/>
            <a:ext cx="26797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Activity</a:t>
            </a:r>
            <a:endParaRPr lang="en-US" sz="1600" noProof="1"/>
          </a:p>
        </p:txBody>
      </p:sp>
      <p:sp>
        <p:nvSpPr>
          <p:cNvPr id="20" name="el19"/>
          <p:cNvSpPr/>
          <p:nvPr/>
        </p:nvSpPr>
        <p:spPr>
          <a:xfrm>
            <a:off x="3594100" y="42672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1" name="el20"/>
          <p:cNvSpPr txBox="1"/>
          <p:nvPr/>
        </p:nvSpPr>
        <p:spPr>
          <a:xfrm>
            <a:off x="3797300" y="4470400"/>
            <a:ext cx="40132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集成提示词模板</a:t>
            </a:r>
            <a:endParaRPr lang="en-US" sz="1600" noProof="1"/>
          </a:p>
        </p:txBody>
      </p:sp>
      <p:sp>
        <p:nvSpPr>
          <p:cNvPr id="22" name="el21"/>
          <p:cNvSpPr/>
          <p:nvPr/>
        </p:nvSpPr>
        <p:spPr>
          <a:xfrm>
            <a:off x="7975600" y="42672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3" name="el22"/>
          <p:cNvSpPr txBox="1"/>
          <p:nvPr/>
        </p:nvSpPr>
        <p:spPr>
          <a:xfrm>
            <a:off x="8178800" y="4470400"/>
            <a:ext cx="40132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智能体与知识库</a:t>
            </a:r>
            <a:endParaRPr lang="en-US" sz="1600" noProof="1"/>
          </a:p>
        </p:txBody>
      </p:sp>
      <p:sp>
        <p:nvSpPr>
          <p:cNvPr id="24" name="el23"/>
          <p:cNvSpPr/>
          <p:nvPr/>
        </p:nvSpPr>
        <p:spPr>
          <a:xfrm>
            <a:off x="12357100" y="42672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5" name="el24"/>
          <p:cNvSpPr txBox="1"/>
          <p:nvPr/>
        </p:nvSpPr>
        <p:spPr>
          <a:xfrm>
            <a:off x="12560300" y="4470400"/>
            <a:ext cx="40132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打造AI服务生态</a:t>
            </a:r>
            <a:endParaRPr lang="en-US" sz="1600" noProof="1"/>
          </a:p>
        </p:txBody>
      </p:sp>
      <p:sp>
        <p:nvSpPr>
          <p:cNvPr id="26" name="el25"/>
          <p:cNvSpPr/>
          <p:nvPr/>
        </p:nvSpPr>
        <p:spPr>
          <a:xfrm>
            <a:off x="16751300" y="42672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7" name="el26"/>
          <p:cNvSpPr txBox="1"/>
          <p:nvPr/>
        </p:nvSpPr>
        <p:spPr>
          <a:xfrm>
            <a:off x="16954500" y="4470400"/>
            <a:ext cx="40132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支持收藏与复用</a:t>
            </a:r>
            <a:endParaRPr lang="en-US" sz="1600" noProof="1"/>
          </a:p>
        </p:txBody>
      </p:sp>
      <p:sp>
        <p:nvSpPr>
          <p:cNvPr id="28" name="el27"/>
          <p:cNvSpPr/>
          <p:nvPr/>
        </p:nvSpPr>
        <p:spPr>
          <a:xfrm>
            <a:off x="546100" y="5029200"/>
            <a:ext cx="3048000" cy="11049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9" name="el28"/>
          <p:cNvSpPr txBox="1"/>
          <p:nvPr/>
        </p:nvSpPr>
        <p:spPr>
          <a:xfrm>
            <a:off x="812800" y="5232400"/>
            <a:ext cx="2540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统一入口访问</a:t>
            </a:r>
            <a:endParaRPr lang="en-US" sz="1600" noProof="1"/>
          </a:p>
        </p:txBody>
      </p:sp>
      <p:sp>
        <p:nvSpPr>
          <p:cNvPr id="30" name="el29"/>
          <p:cNvSpPr/>
          <p:nvPr/>
        </p:nvSpPr>
        <p:spPr>
          <a:xfrm>
            <a:off x="3594100" y="50292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31" name="el30"/>
          <p:cNvSpPr txBox="1"/>
          <p:nvPr/>
        </p:nvSpPr>
        <p:spPr>
          <a:xfrm>
            <a:off x="3860800" y="5232400"/>
            <a:ext cx="38735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通过统一入口快速访问各类AI资源，降低使用门槛。</a:t>
            </a:r>
            <a:endParaRPr lang="en-US" sz="1600" noProof="1"/>
          </a:p>
        </p:txBody>
      </p:sp>
      <p:sp>
        <p:nvSpPr>
          <p:cNvPr id="32" name="el31"/>
          <p:cNvSpPr/>
          <p:nvPr/>
        </p:nvSpPr>
        <p:spPr>
          <a:xfrm>
            <a:off x="7975600" y="50292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33" name="el32"/>
          <p:cNvSpPr txBox="1"/>
          <p:nvPr/>
        </p:nvSpPr>
        <p:spPr>
          <a:xfrm>
            <a:off x="8242300" y="5232400"/>
            <a:ext cx="38735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支持用户收藏常用资源，提升使用效率。</a:t>
            </a:r>
            <a:endParaRPr lang="en-US" sz="1600" noProof="1"/>
          </a:p>
        </p:txBody>
      </p:sp>
      <p:sp>
        <p:nvSpPr>
          <p:cNvPr id="34" name="el33"/>
          <p:cNvSpPr/>
          <p:nvPr/>
        </p:nvSpPr>
        <p:spPr>
          <a:xfrm>
            <a:off x="12357100" y="50292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35" name="el34"/>
          <p:cNvSpPr txBox="1"/>
          <p:nvPr/>
        </p:nvSpPr>
        <p:spPr>
          <a:xfrm>
            <a:off x="12636500" y="5232400"/>
            <a:ext cx="38735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持续接入新AI能力，保持平台前瞻性。</a:t>
            </a:r>
            <a:endParaRPr lang="en-US" sz="1600" noProof="1"/>
          </a:p>
        </p:txBody>
      </p:sp>
      <p:sp>
        <p:nvSpPr>
          <p:cNvPr id="36" name="el35"/>
          <p:cNvSpPr/>
          <p:nvPr/>
        </p:nvSpPr>
        <p:spPr>
          <a:xfrm>
            <a:off x="16751300" y="50292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37" name="el36"/>
          <p:cNvSpPr txBox="1"/>
          <p:nvPr/>
        </p:nvSpPr>
        <p:spPr>
          <a:xfrm>
            <a:off x="17018000" y="5232400"/>
            <a:ext cx="38735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构建德勤内部AI服务生态，推动协作智能化。</a:t>
            </a:r>
            <a:endParaRPr lang="en-US" sz="1600" noProof="1"/>
          </a:p>
        </p:txBody>
      </p:sp>
      <p:sp>
        <p:nvSpPr>
          <p:cNvPr id="38" name="el37"/>
          <p:cNvSpPr/>
          <p:nvPr/>
        </p:nvSpPr>
        <p:spPr>
          <a:xfrm>
            <a:off x="546100" y="6134100"/>
            <a:ext cx="3048000" cy="1104900"/>
          </a:xfrm>
          <a:prstGeom prst="roundRect">
            <a:avLst>
              <a:gd name="adj" fmla="val 6153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39" name="el38"/>
          <p:cNvSpPr txBox="1"/>
          <p:nvPr/>
        </p:nvSpPr>
        <p:spPr>
          <a:xfrm>
            <a:off x="812800" y="6337300"/>
            <a:ext cx="2540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集成多类资源</a:t>
            </a:r>
            <a:endParaRPr lang="en-US" sz="1600" noProof="1"/>
          </a:p>
        </p:txBody>
      </p:sp>
      <p:sp>
        <p:nvSpPr>
          <p:cNvPr id="40" name="el39"/>
          <p:cNvSpPr/>
          <p:nvPr/>
        </p:nvSpPr>
        <p:spPr>
          <a:xfrm>
            <a:off x="3594100" y="61341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41" name="el40"/>
          <p:cNvSpPr txBox="1"/>
          <p:nvPr/>
        </p:nvSpPr>
        <p:spPr>
          <a:xfrm>
            <a:off x="3860800" y="6337300"/>
            <a:ext cx="38735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整合提示词模板、智能体、知识库和工具插件。</a:t>
            </a:r>
            <a:endParaRPr lang="en-US" sz="1600" noProof="1"/>
          </a:p>
        </p:txBody>
      </p:sp>
      <p:sp>
        <p:nvSpPr>
          <p:cNvPr id="42" name="el41"/>
          <p:cNvSpPr/>
          <p:nvPr/>
        </p:nvSpPr>
        <p:spPr>
          <a:xfrm>
            <a:off x="7975600" y="61341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43" name="el42"/>
          <p:cNvSpPr txBox="1"/>
          <p:nvPr/>
        </p:nvSpPr>
        <p:spPr>
          <a:xfrm>
            <a:off x="8242300" y="63373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实现资源统一管理与高效调用。</a:t>
            </a:r>
            <a:endParaRPr lang="en-US" sz="1600" noProof="1"/>
          </a:p>
        </p:txBody>
      </p:sp>
      <p:sp>
        <p:nvSpPr>
          <p:cNvPr id="44" name="el43"/>
          <p:cNvSpPr/>
          <p:nvPr/>
        </p:nvSpPr>
        <p:spPr>
          <a:xfrm>
            <a:off x="12357100" y="61341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45" name="el44"/>
          <p:cNvSpPr txBox="1"/>
          <p:nvPr/>
        </p:nvSpPr>
        <p:spPr>
          <a:xfrm>
            <a:off x="12636500" y="63373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支持灵活组合，满足多样业务需求。</a:t>
            </a:r>
            <a:endParaRPr lang="en-US" sz="1600" noProof="1"/>
          </a:p>
        </p:txBody>
      </p:sp>
      <p:sp>
        <p:nvSpPr>
          <p:cNvPr id="46" name="el45"/>
          <p:cNvSpPr/>
          <p:nvPr/>
        </p:nvSpPr>
        <p:spPr>
          <a:xfrm>
            <a:off x="16751300" y="61341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47" name="el46"/>
          <p:cNvSpPr txBox="1"/>
          <p:nvPr/>
        </p:nvSpPr>
        <p:spPr>
          <a:xfrm>
            <a:off x="17018000" y="63373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提升AI能力复用率与团队协同效率。</a:t>
            </a:r>
            <a:endParaRPr lang="en-US" sz="1600" noProof="1"/>
          </a:p>
        </p:txBody>
      </p:sp>
      <p:sp>
        <p:nvSpPr>
          <p:cNvPr id="48" name="el47"/>
          <p:cNvSpPr/>
          <p:nvPr/>
        </p:nvSpPr>
        <p:spPr>
          <a:xfrm>
            <a:off x="546100" y="7226300"/>
            <a:ext cx="3048000" cy="762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49" name="el48"/>
          <p:cNvSpPr txBox="1"/>
          <p:nvPr/>
        </p:nvSpPr>
        <p:spPr>
          <a:xfrm>
            <a:off x="812800" y="7429500"/>
            <a:ext cx="2540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构建服务生态</a:t>
            </a:r>
            <a:endParaRPr lang="en-US" sz="1600" noProof="1"/>
          </a:p>
        </p:txBody>
      </p:sp>
      <p:sp>
        <p:nvSpPr>
          <p:cNvPr id="50" name="el49"/>
          <p:cNvSpPr/>
          <p:nvPr/>
        </p:nvSpPr>
        <p:spPr>
          <a:xfrm>
            <a:off x="3594100" y="7226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1" name="el50"/>
          <p:cNvSpPr txBox="1"/>
          <p:nvPr/>
        </p:nvSpPr>
        <p:spPr>
          <a:xfrm>
            <a:off x="3860800" y="7429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打造德勤内部AI服务生态系统。</a:t>
            </a:r>
            <a:endParaRPr lang="en-US" sz="1600" noProof="1"/>
          </a:p>
        </p:txBody>
      </p:sp>
      <p:sp>
        <p:nvSpPr>
          <p:cNvPr id="52" name="el51"/>
          <p:cNvSpPr/>
          <p:nvPr/>
        </p:nvSpPr>
        <p:spPr>
          <a:xfrm>
            <a:off x="7975600" y="7226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3" name="el52"/>
          <p:cNvSpPr txBox="1"/>
          <p:nvPr/>
        </p:nvSpPr>
        <p:spPr>
          <a:xfrm>
            <a:off x="8242300" y="7429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促进跨团队协作与能力共享。</a:t>
            </a:r>
            <a:endParaRPr lang="en-US" sz="1600" noProof="1"/>
          </a:p>
        </p:txBody>
      </p:sp>
      <p:sp>
        <p:nvSpPr>
          <p:cNvPr id="54" name="el53"/>
          <p:cNvSpPr/>
          <p:nvPr/>
        </p:nvSpPr>
        <p:spPr>
          <a:xfrm>
            <a:off x="12357100" y="7226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5" name="el54"/>
          <p:cNvSpPr txBox="1"/>
          <p:nvPr/>
        </p:nvSpPr>
        <p:spPr>
          <a:xfrm>
            <a:off x="12636500" y="7429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推动AI应用从试点到规模化落地。</a:t>
            </a:r>
            <a:endParaRPr lang="en-US" sz="1600" noProof="1"/>
          </a:p>
        </p:txBody>
      </p:sp>
      <p:sp>
        <p:nvSpPr>
          <p:cNvPr id="56" name="el55"/>
          <p:cNvSpPr/>
          <p:nvPr/>
        </p:nvSpPr>
        <p:spPr>
          <a:xfrm>
            <a:off x="16751300" y="7226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7" name="el56"/>
          <p:cNvSpPr txBox="1"/>
          <p:nvPr/>
        </p:nvSpPr>
        <p:spPr>
          <a:xfrm>
            <a:off x="17018000" y="7429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建设可持续演进的智能基础设施。</a:t>
            </a:r>
            <a:endParaRPr lang="en-US" sz="1600" noProof="1"/>
          </a:p>
        </p:txBody>
      </p:sp>
      <p:sp>
        <p:nvSpPr>
          <p:cNvPr id="58" name="el57"/>
          <p:cNvSpPr/>
          <p:nvPr/>
        </p:nvSpPr>
        <p:spPr>
          <a:xfrm>
            <a:off x="546100" y="7988300"/>
            <a:ext cx="30480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9" name="el58"/>
          <p:cNvSpPr txBox="1"/>
          <p:nvPr/>
        </p:nvSpPr>
        <p:spPr>
          <a:xfrm>
            <a:off x="812800" y="8191500"/>
            <a:ext cx="2540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提升使用粘性</a:t>
            </a:r>
            <a:endParaRPr lang="en-US" sz="1600" noProof="1"/>
          </a:p>
        </p:txBody>
      </p:sp>
      <p:sp>
        <p:nvSpPr>
          <p:cNvPr id="60" name="el59"/>
          <p:cNvSpPr/>
          <p:nvPr/>
        </p:nvSpPr>
        <p:spPr>
          <a:xfrm>
            <a:off x="3594100" y="7988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61" name="el60"/>
          <p:cNvSpPr txBox="1"/>
          <p:nvPr/>
        </p:nvSpPr>
        <p:spPr>
          <a:xfrm>
            <a:off x="3848100" y="8191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支持收藏与复用常用AI资源。</a:t>
            </a:r>
            <a:endParaRPr lang="en-US" sz="1600" noProof="1"/>
          </a:p>
        </p:txBody>
      </p:sp>
      <p:sp>
        <p:nvSpPr>
          <p:cNvPr id="62" name="el61"/>
          <p:cNvSpPr/>
          <p:nvPr/>
        </p:nvSpPr>
        <p:spPr>
          <a:xfrm>
            <a:off x="7975600" y="7988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63" name="el62"/>
          <p:cNvSpPr txBox="1"/>
          <p:nvPr/>
        </p:nvSpPr>
        <p:spPr>
          <a:xfrm>
            <a:off x="8242300" y="8191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优化用户体验，增强平台依赖性。</a:t>
            </a:r>
            <a:endParaRPr lang="en-US" sz="1600" noProof="1"/>
          </a:p>
        </p:txBody>
      </p:sp>
      <p:sp>
        <p:nvSpPr>
          <p:cNvPr id="64" name="el63"/>
          <p:cNvSpPr/>
          <p:nvPr/>
        </p:nvSpPr>
        <p:spPr>
          <a:xfrm>
            <a:off x="12357100" y="7988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65" name="el64"/>
          <p:cNvSpPr txBox="1"/>
          <p:nvPr/>
        </p:nvSpPr>
        <p:spPr>
          <a:xfrm>
            <a:off x="12636500" y="819785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通过个性化推荐激发使用意愿。</a:t>
            </a:r>
            <a:endParaRPr lang="en-US" sz="1600" noProof="1"/>
          </a:p>
        </p:txBody>
      </p:sp>
      <p:sp>
        <p:nvSpPr>
          <p:cNvPr id="66" name="el65"/>
          <p:cNvSpPr/>
          <p:nvPr/>
        </p:nvSpPr>
        <p:spPr>
          <a:xfrm>
            <a:off x="16751300" y="7988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67" name="el66"/>
          <p:cNvSpPr txBox="1"/>
          <p:nvPr/>
        </p:nvSpPr>
        <p:spPr>
          <a:xfrm>
            <a:off x="17018000" y="8191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实现从工具使用到生态参与的转变。</a:t>
            </a:r>
            <a:endParaRPr lang="en-US" sz="1600" noProof="1"/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812800" y="546100"/>
            <a:ext cx="200787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亮点智能体展示：赋能高效决策与协作</a:t>
            </a:r>
            <a:endParaRPr lang="en-US" sz="4000" noProof="1"/>
          </a:p>
        </p:txBody>
      </p:sp>
      <p:sp>
        <p:nvSpPr>
          <p:cNvPr id="4" name="el3"/>
          <p:cNvSpPr txBox="1"/>
          <p:nvPr/>
        </p:nvSpPr>
        <p:spPr>
          <a:xfrm>
            <a:off x="812800" y="15240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AI驱动的三大核心智能体，助力业务全流程提效</a:t>
            </a:r>
            <a:endParaRPr lang="en-US" sz="2400" noProof="1"/>
          </a:p>
        </p:txBody>
      </p:sp>
      <p:sp>
        <p:nvSpPr>
          <p:cNvPr id="5" name="el4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6" name="el5"/>
          <p:cNvPicPr/>
          <p:nvPr/>
        </p:nvPicPr>
        <p:blipFill>
          <a:blip r:embed="rId3"/>
          <a:stretch>
            <a:fillRect/>
          </a:stretch>
        </p:blipFill>
        <p:spPr>
          <a:xfrm>
            <a:off x="19367500" y="9893300"/>
            <a:ext cx="1892300" cy="1892300"/>
          </a:xfrm>
          <a:prstGeom prst="rect">
            <a:avLst/>
          </a:prstGeom>
          <a:ln>
            <a:noFill/>
          </a:ln>
        </p:spPr>
      </p:pic>
      <p:sp>
        <p:nvSpPr>
          <p:cNvPr id="7" name="el6"/>
          <p:cNvSpPr/>
          <p:nvPr/>
        </p:nvSpPr>
        <p:spPr>
          <a:xfrm>
            <a:off x="2171700" y="3390900"/>
            <a:ext cx="8394700" cy="27813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pic>
        <p:nvPicPr>
          <p:cNvPr id="8" name="el7"/>
          <p:cNvPicPr/>
          <p:nvPr/>
        </p:nvPicPr>
        <p:blipFill>
          <a:blip r:embed="rId4"/>
          <a:stretch>
            <a:fillRect/>
          </a:stretch>
        </p:blipFill>
        <p:spPr>
          <a:xfrm>
            <a:off x="2438400" y="3657600"/>
            <a:ext cx="1625600" cy="1625600"/>
          </a:xfrm>
          <a:prstGeom prst="rect">
            <a:avLst/>
          </a:prstGeom>
          <a:ln>
            <a:noFill/>
          </a:ln>
        </p:spPr>
      </p:pic>
      <p:sp>
        <p:nvSpPr>
          <p:cNvPr id="9" name="el8"/>
          <p:cNvSpPr txBox="1"/>
          <p:nvPr/>
        </p:nvSpPr>
        <p:spPr>
          <a:xfrm>
            <a:off x="4470400" y="3657600"/>
            <a:ext cx="58547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937"/>
                </a:solidFill>
                <a:latin typeface="Arial"/>
                <a:ea typeface="Arial"/>
              </a:rPr>
              <a:t>Digital Consultant</a:t>
            </a:r>
            <a:endParaRPr lang="en-US" sz="2400" noProof="1"/>
          </a:p>
        </p:txBody>
      </p:sp>
      <p:sp>
        <p:nvSpPr>
          <p:cNvPr id="10" name="el9"/>
          <p:cNvSpPr txBox="1"/>
          <p:nvPr/>
        </p:nvSpPr>
        <p:spPr>
          <a:xfrm>
            <a:off x="4470400" y="4267200"/>
            <a:ext cx="58547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4B5563"/>
                </a:solidFill>
                <a:latin typeface="Arial"/>
                <a:ea typeface="Arial"/>
              </a:rPr>
              <a:t>智能方案生成与交付</a:t>
            </a:r>
            <a:endParaRPr lang="en-US" sz="2000" noProof="1"/>
          </a:p>
        </p:txBody>
      </p:sp>
      <p:sp>
        <p:nvSpPr>
          <p:cNvPr id="11" name="el10"/>
          <p:cNvSpPr txBox="1"/>
          <p:nvPr/>
        </p:nvSpPr>
        <p:spPr>
          <a:xfrm>
            <a:off x="4470400" y="4737100"/>
            <a:ext cx="5854700" cy="774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374151"/>
                </a:solidFill>
                <a:latin typeface="Arial"/>
                <a:ea typeface="Arial"/>
              </a:rPr>
              <a:t>协助撰写产品方案与运营策略，自动生成PPT与咨询报告，提升交付效率与专业度</a:t>
            </a:r>
            <a:endParaRPr lang="en-US" sz="2000" noProof="1"/>
          </a:p>
        </p:txBody>
      </p:sp>
      <p:sp>
        <p:nvSpPr>
          <p:cNvPr id="12" name="el11"/>
          <p:cNvSpPr/>
          <p:nvPr/>
        </p:nvSpPr>
        <p:spPr>
          <a:xfrm>
            <a:off x="4470400" y="5854700"/>
            <a:ext cx="5829300" cy="38100"/>
          </a:xfrm>
          <a:prstGeom prst="roundRect">
            <a:avLst>
              <a:gd name="adj" fmla="val 4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3" name="el12"/>
          <p:cNvSpPr/>
          <p:nvPr/>
        </p:nvSpPr>
        <p:spPr>
          <a:xfrm>
            <a:off x="11112500" y="3390900"/>
            <a:ext cx="8394700" cy="27813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pic>
        <p:nvPicPr>
          <p:cNvPr id="14" name="el13"/>
          <p:cNvPicPr/>
          <p:nvPr/>
        </p:nvPicPr>
        <p:blipFill>
          <a:blip r:embed="rId5"/>
          <a:stretch>
            <a:fillRect/>
          </a:stretch>
        </p:blipFill>
        <p:spPr>
          <a:xfrm>
            <a:off x="11379200" y="3657600"/>
            <a:ext cx="1625600" cy="1625600"/>
          </a:xfrm>
          <a:prstGeom prst="rect">
            <a:avLst/>
          </a:prstGeom>
          <a:ln>
            <a:noFill/>
          </a:ln>
        </p:spPr>
      </p:pic>
      <p:sp>
        <p:nvSpPr>
          <p:cNvPr id="15" name="el14"/>
          <p:cNvSpPr txBox="1"/>
          <p:nvPr/>
        </p:nvSpPr>
        <p:spPr>
          <a:xfrm>
            <a:off x="13411200" y="3657600"/>
            <a:ext cx="58547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937"/>
                </a:solidFill>
                <a:latin typeface="Arial"/>
                <a:ea typeface="Arial"/>
              </a:rPr>
              <a:t>Analytics Assistant</a:t>
            </a:r>
            <a:endParaRPr lang="en-US" sz="2400" noProof="1"/>
          </a:p>
        </p:txBody>
      </p:sp>
      <p:sp>
        <p:nvSpPr>
          <p:cNvPr id="16" name="el15"/>
          <p:cNvSpPr txBox="1"/>
          <p:nvPr/>
        </p:nvSpPr>
        <p:spPr>
          <a:xfrm>
            <a:off x="13411200" y="4267200"/>
            <a:ext cx="58547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4B5563"/>
                </a:solidFill>
                <a:latin typeface="Arial"/>
                <a:ea typeface="Arial"/>
              </a:rPr>
              <a:t>数据洞察与决策支持</a:t>
            </a:r>
            <a:endParaRPr lang="en-US" sz="2000" noProof="1"/>
          </a:p>
        </p:txBody>
      </p:sp>
      <p:sp>
        <p:nvSpPr>
          <p:cNvPr id="17" name="el16"/>
          <p:cNvSpPr txBox="1"/>
          <p:nvPr/>
        </p:nvSpPr>
        <p:spPr>
          <a:xfrm>
            <a:off x="13411200" y="4737100"/>
            <a:ext cx="5854700" cy="774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374151"/>
                </a:solidFill>
                <a:latin typeface="Arial"/>
                <a:ea typeface="Arial"/>
              </a:rPr>
              <a:t>执行SQL查询，生成可视化图表与关键洞察摘要，加速数据驱动决策流程</a:t>
            </a:r>
            <a:endParaRPr lang="en-US" sz="2000" noProof="1"/>
          </a:p>
        </p:txBody>
      </p:sp>
      <p:sp>
        <p:nvSpPr>
          <p:cNvPr id="18" name="el17"/>
          <p:cNvSpPr/>
          <p:nvPr/>
        </p:nvSpPr>
        <p:spPr>
          <a:xfrm>
            <a:off x="13411200" y="5854700"/>
            <a:ext cx="5829300" cy="38100"/>
          </a:xfrm>
          <a:prstGeom prst="roundRect">
            <a:avLst>
              <a:gd name="adj" fmla="val 4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9" name="el18"/>
          <p:cNvSpPr/>
          <p:nvPr/>
        </p:nvSpPr>
        <p:spPr>
          <a:xfrm>
            <a:off x="2171700" y="6705600"/>
            <a:ext cx="8394700" cy="27813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pic>
        <p:nvPicPr>
          <p:cNvPr id="20" name="el19"/>
          <p:cNvPicPr/>
          <p:nvPr/>
        </p:nvPicPr>
        <p:blipFill>
          <a:blip r:embed="rId6"/>
          <a:stretch>
            <a:fillRect/>
          </a:stretch>
        </p:blipFill>
        <p:spPr>
          <a:xfrm>
            <a:off x="2438400" y="6972300"/>
            <a:ext cx="1625600" cy="1625600"/>
          </a:xfrm>
          <a:prstGeom prst="rect">
            <a:avLst/>
          </a:prstGeom>
          <a:ln>
            <a:noFill/>
          </a:ln>
        </p:spPr>
      </p:pic>
      <p:sp>
        <p:nvSpPr>
          <p:cNvPr id="21" name="el20"/>
          <p:cNvSpPr txBox="1"/>
          <p:nvPr/>
        </p:nvSpPr>
        <p:spPr>
          <a:xfrm>
            <a:off x="4470400" y="6972300"/>
            <a:ext cx="58547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937"/>
                </a:solidFill>
                <a:latin typeface="Arial"/>
                <a:ea typeface="Arial"/>
              </a:rPr>
              <a:t>Translator Assistant</a:t>
            </a:r>
            <a:endParaRPr lang="en-US" sz="2400" noProof="1"/>
          </a:p>
        </p:txBody>
      </p:sp>
      <p:sp>
        <p:nvSpPr>
          <p:cNvPr id="22" name="el21"/>
          <p:cNvSpPr txBox="1"/>
          <p:nvPr/>
        </p:nvSpPr>
        <p:spPr>
          <a:xfrm>
            <a:off x="4470400" y="7581900"/>
            <a:ext cx="58547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4B5563"/>
                </a:solidFill>
                <a:latin typeface="Arial"/>
                <a:ea typeface="Arial"/>
              </a:rPr>
              <a:t>多语言智能翻译</a:t>
            </a:r>
            <a:endParaRPr lang="en-US" sz="2000" noProof="1"/>
          </a:p>
        </p:txBody>
      </p:sp>
      <p:sp>
        <p:nvSpPr>
          <p:cNvPr id="23" name="el22"/>
          <p:cNvSpPr txBox="1"/>
          <p:nvPr/>
        </p:nvSpPr>
        <p:spPr>
          <a:xfrm>
            <a:off x="4470400" y="8064500"/>
            <a:ext cx="5854700" cy="774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374151"/>
                </a:solidFill>
                <a:latin typeface="Arial"/>
                <a:ea typeface="Arial"/>
              </a:rPr>
              <a:t>支持中、英、日等多语言互译，实现文档快速翻译与专业级润色</a:t>
            </a:r>
            <a:endParaRPr lang="en-US" sz="2000" noProof="1"/>
          </a:p>
        </p:txBody>
      </p:sp>
      <p:sp>
        <p:nvSpPr>
          <p:cNvPr id="24" name="el23"/>
          <p:cNvSpPr/>
          <p:nvPr/>
        </p:nvSpPr>
        <p:spPr>
          <a:xfrm>
            <a:off x="4470400" y="9156700"/>
            <a:ext cx="5829300" cy="38100"/>
          </a:xfrm>
          <a:prstGeom prst="roundRect">
            <a:avLst>
              <a:gd name="adj" fmla="val 4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1219200" y="812800"/>
            <a:ext cx="192659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7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工作助手模块组成</a:t>
            </a:r>
            <a:endParaRPr lang="en-US" sz="4000" noProof="1"/>
          </a:p>
        </p:txBody>
      </p:sp>
      <p:sp>
        <p:nvSpPr>
          <p:cNvPr id="3" name="el2"/>
          <p:cNvSpPr txBox="1"/>
          <p:nvPr/>
        </p:nvSpPr>
        <p:spPr>
          <a:xfrm>
            <a:off x="1219200" y="24511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01</a:t>
            </a:r>
            <a:endParaRPr lang="en-US" sz="6600" noProof="1"/>
          </a:p>
        </p:txBody>
      </p:sp>
      <p:sp>
        <p:nvSpPr>
          <p:cNvPr id="4" name="el3"/>
          <p:cNvSpPr txBox="1"/>
          <p:nvPr/>
        </p:nvSpPr>
        <p:spPr>
          <a:xfrm>
            <a:off x="2489200" y="2781300"/>
            <a:ext cx="95123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>
                <a:solidFill>
                  <a:srgbClr val="111827"/>
                </a:solidFill>
                <a:latin typeface="Calibri"/>
                <a:ea typeface="Calibri"/>
              </a:rPr>
              <a:t>文档助手：上传文档后实现智能总结、对比分析、改写与问答。</a:t>
            </a:r>
            <a:endParaRPr lang="en-US" sz="2600" noProof="1"/>
          </a:p>
        </p:txBody>
      </p:sp>
      <p:sp>
        <p:nvSpPr>
          <p:cNvPr id="5" name="el4"/>
          <p:cNvSpPr txBox="1"/>
          <p:nvPr/>
        </p:nvSpPr>
        <p:spPr>
          <a:xfrm>
            <a:off x="1219200" y="42672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02</a:t>
            </a:r>
            <a:endParaRPr lang="en-US" sz="6600" noProof="1"/>
          </a:p>
        </p:txBody>
      </p:sp>
      <p:sp>
        <p:nvSpPr>
          <p:cNvPr id="6" name="el5"/>
          <p:cNvSpPr txBox="1"/>
          <p:nvPr/>
        </p:nvSpPr>
        <p:spPr>
          <a:xfrm>
            <a:off x="2489200" y="4584700"/>
            <a:ext cx="88392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>
                <a:solidFill>
                  <a:srgbClr val="111827"/>
                </a:solidFill>
                <a:latin typeface="Calibri"/>
                <a:ea typeface="Calibri"/>
              </a:rPr>
              <a:t>翻译助手：支持多语言句段与文档级翻译，保留原始格式。</a:t>
            </a:r>
            <a:endParaRPr lang="en-US" sz="2600" noProof="1"/>
          </a:p>
        </p:txBody>
      </p:sp>
      <p:sp>
        <p:nvSpPr>
          <p:cNvPr id="7" name="el6"/>
          <p:cNvSpPr txBox="1"/>
          <p:nvPr/>
        </p:nvSpPr>
        <p:spPr>
          <a:xfrm>
            <a:off x="1219200" y="60833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03</a:t>
            </a:r>
            <a:endParaRPr lang="en-US" sz="6600" noProof="1"/>
          </a:p>
        </p:txBody>
      </p:sp>
      <p:sp>
        <p:nvSpPr>
          <p:cNvPr id="8" name="el7"/>
          <p:cNvSpPr txBox="1"/>
          <p:nvPr/>
        </p:nvSpPr>
        <p:spPr>
          <a:xfrm>
            <a:off x="2489200" y="6400800"/>
            <a:ext cx="84963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>
                <a:solidFill>
                  <a:srgbClr val="111827"/>
                </a:solidFill>
                <a:latin typeface="Calibri"/>
                <a:ea typeface="Calibri"/>
              </a:rPr>
              <a:t>语音助手：语音转文字、要点提取、自动生成会议纪要。</a:t>
            </a:r>
            <a:endParaRPr lang="en-US" sz="2600" noProof="1"/>
          </a:p>
        </p:txBody>
      </p:sp>
      <p:sp>
        <p:nvSpPr>
          <p:cNvPr id="9" name="el8"/>
          <p:cNvSpPr txBox="1"/>
          <p:nvPr/>
        </p:nvSpPr>
        <p:spPr>
          <a:xfrm>
            <a:off x="1219200" y="78867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04</a:t>
            </a:r>
            <a:endParaRPr lang="en-US" sz="6600" noProof="1"/>
          </a:p>
        </p:txBody>
      </p:sp>
      <p:sp>
        <p:nvSpPr>
          <p:cNvPr id="10" name="el9"/>
          <p:cNvSpPr txBox="1"/>
          <p:nvPr/>
        </p:nvSpPr>
        <p:spPr>
          <a:xfrm>
            <a:off x="2489200" y="8216900"/>
            <a:ext cx="84963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>
                <a:solidFill>
                  <a:srgbClr val="111827"/>
                </a:solidFill>
                <a:latin typeface="Calibri"/>
                <a:ea typeface="Calibri"/>
              </a:rPr>
              <a:t>编程助手：代码生成、函数改写、注释补充、自动补全。</a:t>
            </a:r>
            <a:endParaRPr lang="en-US" sz="2600" noProof="1"/>
          </a:p>
        </p:txBody>
      </p:sp>
      <p:sp>
        <p:nvSpPr>
          <p:cNvPr id="11" name="el10"/>
          <p:cNvSpPr txBox="1"/>
          <p:nvPr/>
        </p:nvSpPr>
        <p:spPr>
          <a:xfrm>
            <a:off x="1219200" y="97028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05</a:t>
            </a:r>
            <a:endParaRPr lang="en-US" sz="6600" noProof="1"/>
          </a:p>
        </p:txBody>
      </p:sp>
      <p:sp>
        <p:nvSpPr>
          <p:cNvPr id="12" name="el11"/>
          <p:cNvSpPr txBox="1"/>
          <p:nvPr/>
        </p:nvSpPr>
        <p:spPr>
          <a:xfrm>
            <a:off x="2489200" y="10020300"/>
            <a:ext cx="84963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>
                <a:solidFill>
                  <a:srgbClr val="111827"/>
                </a:solidFill>
                <a:latin typeface="Calibri"/>
                <a:ea typeface="Calibri"/>
              </a:rPr>
              <a:t>各模块均支持与主平台无缝集成，操作便捷，多端同步。</a:t>
            </a:r>
            <a:endParaRPr lang="en-US" sz="2600" noProof="1"/>
          </a:p>
        </p:txBody>
      </p:sp>
      <p:pic>
        <p:nvPicPr>
          <p:cNvPr id="13" name="el12"/>
          <p:cNvPicPr/>
          <p:nvPr/>
        </p:nvPicPr>
        <p:blipFill>
          <a:blip r:embed="rId2"/>
          <a:stretch>
            <a:fillRect/>
          </a:stretch>
        </p:blipFill>
        <p:spPr>
          <a:xfrm>
            <a:off x="12687300" y="2451100"/>
            <a:ext cx="7772400" cy="8928100"/>
          </a:xfrm>
          <a:prstGeom prst="rect">
            <a:avLst/>
          </a:prstGeom>
          <a:ln>
            <a:noFill/>
          </a:ln>
        </p:spPr>
      </p:pic>
      <p:pic>
        <p:nvPicPr>
          <p:cNvPr id="14" name="el1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678900" cy="12192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812800" y="812800"/>
            <a:ext cx="200787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111827"/>
                </a:solidFill>
                <a:latin typeface="Arial"/>
                <a:ea typeface="Arial"/>
              </a:rPr>
              <a:t>应用中心定位与价值</a:t>
            </a:r>
            <a:endParaRPr lang="en-US" sz="3600" noProof="1"/>
          </a:p>
        </p:txBody>
      </p:sp>
      <p:sp>
        <p:nvSpPr>
          <p:cNvPr id="3" name="el2"/>
          <p:cNvSpPr txBox="1"/>
          <p:nvPr/>
        </p:nvSpPr>
        <p:spPr>
          <a:xfrm>
            <a:off x="812800" y="16383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6B7280"/>
                </a:solidFill>
                <a:latin typeface="Arial"/>
                <a:ea typeface="Arial"/>
              </a:rPr>
              <a:t>聚焦行业场景，驱动AI专业化落地</a:t>
            </a:r>
            <a:endParaRPr lang="en-US" sz="2200" noProof="1"/>
          </a:p>
        </p:txBody>
      </p:sp>
      <p:pic>
        <p:nvPicPr>
          <p:cNvPr id="4" name="el3"/>
          <p:cNvPicPr/>
          <p:nvPr/>
        </p:nvPicPr>
        <p:blipFill>
          <a:blip r:embed="rId2"/>
          <a:stretch>
            <a:fillRect/>
          </a:stretch>
        </p:blipFill>
        <p:spPr>
          <a:xfrm>
            <a:off x="12141200" y="0"/>
            <a:ext cx="9537700" cy="2438400"/>
          </a:xfrm>
          <a:prstGeom prst="rect">
            <a:avLst/>
          </a:prstGeom>
          <a:ln>
            <a:noFill/>
          </a:ln>
        </p:spPr>
      </p:pic>
      <p:sp>
        <p:nvSpPr>
          <p:cNvPr id="5" name="el4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6" name="el5"/>
          <p:cNvPicPr/>
          <p:nvPr/>
        </p:nvPicPr>
        <p:blipFill>
          <a:blip r:embed="rId3"/>
          <a:stretch>
            <a:fillRect/>
          </a:stretch>
        </p:blipFill>
        <p:spPr>
          <a:xfrm>
            <a:off x="19367500" y="9893300"/>
            <a:ext cx="1892300" cy="1892300"/>
          </a:xfrm>
          <a:prstGeom prst="rect">
            <a:avLst/>
          </a:prstGeom>
          <a:ln>
            <a:noFill/>
          </a:ln>
        </p:spPr>
      </p:pic>
      <p:pic>
        <p:nvPicPr>
          <p:cNvPr id="7" name="el6"/>
          <p:cNvPicPr/>
          <p:nvPr/>
        </p:nvPicPr>
        <p:blipFill>
          <a:blip r:embed="rId4"/>
          <a:stretch>
            <a:fillRect/>
          </a:stretch>
        </p:blipFill>
        <p:spPr>
          <a:xfrm>
            <a:off x="812800" y="3238500"/>
            <a:ext cx="5753100" cy="914400"/>
          </a:xfrm>
          <a:prstGeom prst="rect">
            <a:avLst/>
          </a:prstGeom>
          <a:ln>
            <a:noFill/>
          </a:ln>
        </p:spPr>
      </p:pic>
      <p:sp>
        <p:nvSpPr>
          <p:cNvPr id="8" name="el7"/>
          <p:cNvSpPr txBox="1"/>
          <p:nvPr/>
        </p:nvSpPr>
        <p:spPr>
          <a:xfrm>
            <a:off x="1384300" y="3251200"/>
            <a:ext cx="4635500" cy="876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2100" noProof="1">
                <a:solidFill>
                  <a:srgbClr val="333333"/>
                </a:solidFill>
                <a:latin typeface="Arial"/>
                <a:ea typeface="Arial"/>
              </a:rPr>
              <a:t>汇聚GenAI算法与算力驱动的独立应用系统</a:t>
            </a:r>
            <a:endParaRPr lang="en-US" sz="2100" noProof="1"/>
          </a:p>
        </p:txBody>
      </p:sp>
      <p:sp>
        <p:nvSpPr>
          <p:cNvPr id="9" name="el8"/>
          <p:cNvSpPr txBox="1"/>
          <p:nvPr/>
        </p:nvSpPr>
        <p:spPr>
          <a:xfrm>
            <a:off x="7378700" y="3556000"/>
            <a:ext cx="1651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•</a:t>
            </a:r>
            <a:endParaRPr lang="en-US" sz="2400" noProof="1"/>
          </a:p>
        </p:txBody>
      </p:sp>
      <p:sp>
        <p:nvSpPr>
          <p:cNvPr id="10" name="el9"/>
          <p:cNvSpPr txBox="1"/>
          <p:nvPr/>
        </p:nvSpPr>
        <p:spPr>
          <a:xfrm>
            <a:off x="7658100" y="3302000"/>
            <a:ext cx="132461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5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推动AI能力从通用向专业纵深演进，释放行业价值潜力。提供100%定制化支持，提升30%部署效率</a:t>
            </a:r>
            <a:endParaRPr lang="en-US" sz="2400" noProof="1"/>
          </a:p>
        </p:txBody>
      </p:sp>
      <p:pic>
        <p:nvPicPr>
          <p:cNvPr id="11" name="el10"/>
          <p:cNvPicPr/>
          <p:nvPr/>
        </p:nvPicPr>
        <p:blipFill>
          <a:blip r:embed="rId5"/>
          <a:stretch>
            <a:fillRect/>
          </a:stretch>
        </p:blipFill>
        <p:spPr>
          <a:xfrm>
            <a:off x="812800" y="4813300"/>
            <a:ext cx="5753100" cy="914400"/>
          </a:xfrm>
          <a:prstGeom prst="rect">
            <a:avLst/>
          </a:prstGeom>
          <a:ln>
            <a:noFill/>
          </a:ln>
        </p:spPr>
      </p:pic>
      <p:sp>
        <p:nvSpPr>
          <p:cNvPr id="12" name="el11"/>
          <p:cNvSpPr txBox="1"/>
          <p:nvPr/>
        </p:nvSpPr>
        <p:spPr>
          <a:xfrm>
            <a:off x="1384300" y="4826000"/>
            <a:ext cx="4635500" cy="876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2100" noProof="1">
                <a:solidFill>
                  <a:srgbClr val="FFFFFF"/>
                </a:solidFill>
                <a:latin typeface="Arial"/>
                <a:ea typeface="Arial"/>
              </a:rPr>
              <a:t>面向金融、医疗等垂直行业提供定制化解决方案</a:t>
            </a:r>
            <a:endParaRPr lang="en-US" sz="2100" noProof="1"/>
          </a:p>
        </p:txBody>
      </p:sp>
      <p:sp>
        <p:nvSpPr>
          <p:cNvPr id="13" name="el12"/>
          <p:cNvSpPr txBox="1"/>
          <p:nvPr/>
        </p:nvSpPr>
        <p:spPr>
          <a:xfrm>
            <a:off x="7378700" y="5118100"/>
            <a:ext cx="1651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•</a:t>
            </a:r>
            <a:endParaRPr lang="en-US" sz="2400" noProof="1"/>
          </a:p>
        </p:txBody>
      </p:sp>
      <p:sp>
        <p:nvSpPr>
          <p:cNvPr id="14" name="el13"/>
          <p:cNvSpPr txBox="1"/>
          <p:nvPr/>
        </p:nvSpPr>
        <p:spPr>
          <a:xfrm>
            <a:off x="7658100" y="4876800"/>
            <a:ext cx="132461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5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支持跨行业复用，降低开发成本，加速AI产品化落地。内置50+行业模板和200+预置模块</a:t>
            </a:r>
            <a:endParaRPr lang="en-US" sz="2400" noProof="1"/>
          </a:p>
        </p:txBody>
      </p:sp>
      <p:pic>
        <p:nvPicPr>
          <p:cNvPr id="15" name="el14"/>
          <p:cNvPicPr/>
          <p:nvPr/>
        </p:nvPicPr>
        <p:blipFill>
          <a:blip r:embed="rId6"/>
          <a:stretch>
            <a:fillRect/>
          </a:stretch>
        </p:blipFill>
        <p:spPr>
          <a:xfrm>
            <a:off x="812800" y="6388100"/>
            <a:ext cx="5753100" cy="914400"/>
          </a:xfrm>
          <a:prstGeom prst="rect">
            <a:avLst/>
          </a:prstGeom>
          <a:ln>
            <a:noFill/>
          </a:ln>
        </p:spPr>
      </p:pic>
      <p:sp>
        <p:nvSpPr>
          <p:cNvPr id="16" name="el15"/>
          <p:cNvSpPr txBox="1"/>
          <p:nvPr/>
        </p:nvSpPr>
        <p:spPr>
          <a:xfrm>
            <a:off x="1384300" y="6400800"/>
            <a:ext cx="4635500" cy="876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2100" noProof="1">
                <a:solidFill>
                  <a:srgbClr val="FFFFFF"/>
                </a:solidFill>
                <a:latin typeface="Arial"/>
                <a:ea typeface="Arial"/>
              </a:rPr>
              <a:t>支持独立访问控制，保障数据隔离与权限安全</a:t>
            </a:r>
            <a:endParaRPr lang="en-US" sz="2100" noProof="1"/>
          </a:p>
        </p:txBody>
      </p:sp>
      <p:sp>
        <p:nvSpPr>
          <p:cNvPr id="17" name="el16"/>
          <p:cNvSpPr txBox="1"/>
          <p:nvPr/>
        </p:nvSpPr>
        <p:spPr>
          <a:xfrm>
            <a:off x="7378700" y="6692900"/>
            <a:ext cx="1651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•</a:t>
            </a:r>
            <a:endParaRPr lang="en-US" sz="2400" noProof="1"/>
          </a:p>
        </p:txBody>
      </p:sp>
      <p:sp>
        <p:nvSpPr>
          <p:cNvPr id="18" name="el17"/>
          <p:cNvSpPr txBox="1"/>
          <p:nvPr/>
        </p:nvSpPr>
        <p:spPr>
          <a:xfrm>
            <a:off x="7658100" y="6451600"/>
            <a:ext cx="132461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5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统一管理入口，实现应用全生命周期可视化管控，支持实时监控与自动扩缩容</a:t>
            </a:r>
            <a:endParaRPr lang="en-US" sz="2400" noProof="1"/>
          </a:p>
        </p:txBody>
      </p:sp>
      <p:pic>
        <p:nvPicPr>
          <p:cNvPr id="19" name="el18"/>
          <p:cNvPicPr/>
          <p:nvPr/>
        </p:nvPicPr>
        <p:blipFill>
          <a:blip r:embed="rId7"/>
          <a:stretch>
            <a:fillRect/>
          </a:stretch>
        </p:blipFill>
        <p:spPr>
          <a:xfrm>
            <a:off x="812800" y="7962900"/>
            <a:ext cx="5753100" cy="914400"/>
          </a:xfrm>
          <a:prstGeom prst="rect">
            <a:avLst/>
          </a:prstGeom>
          <a:ln>
            <a:noFill/>
          </a:ln>
        </p:spPr>
      </p:pic>
      <p:sp>
        <p:nvSpPr>
          <p:cNvPr id="20" name="el19"/>
          <p:cNvSpPr txBox="1"/>
          <p:nvPr/>
        </p:nvSpPr>
        <p:spPr>
          <a:xfrm>
            <a:off x="1384300" y="7962900"/>
            <a:ext cx="4635500" cy="876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2100" noProof="1">
                <a:solidFill>
                  <a:srgbClr val="FFFFFF"/>
                </a:solidFill>
                <a:latin typeface="Arial"/>
                <a:ea typeface="Arial"/>
              </a:rPr>
              <a:t>支持快速部署与按需调用，满足项目级AI应用需求</a:t>
            </a:r>
            <a:endParaRPr lang="en-US" sz="2100" noProof="1"/>
          </a:p>
        </p:txBody>
      </p:sp>
      <p:sp>
        <p:nvSpPr>
          <p:cNvPr id="21" name="el20"/>
          <p:cNvSpPr txBox="1"/>
          <p:nvPr/>
        </p:nvSpPr>
        <p:spPr>
          <a:xfrm>
            <a:off x="7378700" y="8267700"/>
            <a:ext cx="1651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•</a:t>
            </a:r>
            <a:endParaRPr lang="en-US" sz="2400" noProof="1"/>
          </a:p>
        </p:txBody>
      </p:sp>
      <p:sp>
        <p:nvSpPr>
          <p:cNvPr id="22" name="el21"/>
          <p:cNvSpPr txBox="1"/>
          <p:nvPr/>
        </p:nvSpPr>
        <p:spPr>
          <a:xfrm>
            <a:off x="7658100" y="8026400"/>
            <a:ext cx="132461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5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兼容主流AI框架，灵活对接企业现有IT体系，支持PyTorch、TensorFlow、ONNX等</a:t>
            </a:r>
            <a:endParaRPr lang="en-US" sz="2400" noProof="1"/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pic>
        <p:nvPicPr>
          <p:cNvPr id="3" name="el2"/>
          <p:cNvPicPr/>
          <p:nvPr/>
        </p:nvPicPr>
        <p:blipFill>
          <a:blip r:embed="rId3"/>
          <a:stretch>
            <a:fillRect/>
          </a:stretch>
        </p:blipFill>
        <p:spPr>
          <a:xfrm>
            <a:off x="12141200" y="9753600"/>
            <a:ext cx="9537700" cy="2438400"/>
          </a:xfrm>
          <a:prstGeom prst="rect">
            <a:avLst/>
          </a:prstGeom>
          <a:ln>
            <a:noFill/>
          </a:ln>
        </p:spPr>
      </p:pic>
      <p:sp>
        <p:nvSpPr>
          <p:cNvPr id="4" name="el3"/>
          <p:cNvSpPr txBox="1"/>
          <p:nvPr/>
        </p:nvSpPr>
        <p:spPr>
          <a:xfrm>
            <a:off x="812800" y="812800"/>
            <a:ext cx="200787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权限管理体系：精细化访问控制</a:t>
            </a:r>
            <a:endParaRPr lang="en-US" sz="4000" noProof="1"/>
          </a:p>
        </p:txBody>
      </p:sp>
      <p:sp>
        <p:nvSpPr>
          <p:cNvPr id="5" name="el4"/>
          <p:cNvSpPr txBox="1"/>
          <p:nvPr/>
        </p:nvSpPr>
        <p:spPr>
          <a:xfrm>
            <a:off x="812800" y="17907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保障安全与合规的统一管理</a:t>
            </a:r>
            <a:endParaRPr lang="en-US" sz="2400" noProof="1"/>
          </a:p>
        </p:txBody>
      </p:sp>
      <p:sp>
        <p:nvSpPr>
          <p:cNvPr id="6" name="el5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7" name="el6"/>
          <p:cNvPicPr/>
          <p:nvPr/>
        </p:nvPicPr>
        <p:blipFill>
          <a:blip r:embed="rId4"/>
          <a:stretch>
            <a:fillRect/>
          </a:stretch>
        </p:blipFill>
        <p:spPr>
          <a:xfrm>
            <a:off x="3403600" y="3390900"/>
            <a:ext cx="952500" cy="952500"/>
          </a:xfrm>
          <a:prstGeom prst="rect">
            <a:avLst/>
          </a:prstGeom>
          <a:ln>
            <a:noFill/>
          </a:ln>
        </p:spPr>
      </p:pic>
      <p:pic>
        <p:nvPicPr>
          <p:cNvPr id="8" name="el7"/>
          <p:cNvPicPr/>
          <p:nvPr/>
        </p:nvPicPr>
        <p:blipFill>
          <a:blip r:embed="rId5"/>
          <a:stretch>
            <a:fillRect/>
          </a:stretch>
        </p:blipFill>
        <p:spPr>
          <a:xfrm>
            <a:off x="3517900" y="3505200"/>
            <a:ext cx="711200" cy="711200"/>
          </a:xfrm>
          <a:prstGeom prst="rect">
            <a:avLst/>
          </a:prstGeom>
          <a:ln>
            <a:noFill/>
          </a:ln>
        </p:spPr>
      </p:pic>
      <p:sp>
        <p:nvSpPr>
          <p:cNvPr id="9" name="el8"/>
          <p:cNvSpPr txBox="1"/>
          <p:nvPr/>
        </p:nvSpPr>
        <p:spPr>
          <a:xfrm>
            <a:off x="1168400" y="47371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系统管理员可灵活配置资源访问权限，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支持按部门、角色和项目划分访问范围</a:t>
            </a:r>
            <a:endParaRPr lang="en-US" sz="2400" noProof="1"/>
          </a:p>
        </p:txBody>
      </p:sp>
      <p:sp>
        <p:nvSpPr>
          <p:cNvPr id="10" name="el9"/>
          <p:cNvSpPr txBox="1"/>
          <p:nvPr/>
        </p:nvSpPr>
        <p:spPr>
          <a:xfrm>
            <a:off x="1168400" y="67183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实现对知识库、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智能体及应用系统的细粒度管控，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确保权限精准匹配岗位职责</a:t>
            </a:r>
            <a:endParaRPr lang="en-US" sz="2400" noProof="1"/>
          </a:p>
        </p:txBody>
      </p:sp>
      <p:pic>
        <p:nvPicPr>
          <p:cNvPr id="11" name="el10"/>
          <p:cNvPicPr/>
          <p:nvPr/>
        </p:nvPicPr>
        <p:blipFill>
          <a:blip r:embed="rId6"/>
          <a:stretch>
            <a:fillRect/>
          </a:stretch>
        </p:blipFill>
        <p:spPr>
          <a:xfrm>
            <a:off x="10363200" y="3390900"/>
            <a:ext cx="952500" cy="952500"/>
          </a:xfrm>
          <a:prstGeom prst="rect">
            <a:avLst/>
          </a:prstGeom>
          <a:ln>
            <a:noFill/>
          </a:ln>
        </p:spPr>
      </p:pic>
      <p:pic>
        <p:nvPicPr>
          <p:cNvPr id="12" name="el11"/>
          <p:cNvPicPr/>
          <p:nvPr/>
        </p:nvPicPr>
        <p:blipFill>
          <a:blip r:embed="rId7"/>
          <a:stretch>
            <a:fillRect/>
          </a:stretch>
        </p:blipFill>
        <p:spPr>
          <a:xfrm>
            <a:off x="10477500" y="3505200"/>
            <a:ext cx="711200" cy="711200"/>
          </a:xfrm>
          <a:prstGeom prst="rect">
            <a:avLst/>
          </a:prstGeom>
          <a:ln>
            <a:noFill/>
          </a:ln>
        </p:spPr>
      </p:pic>
      <p:sp>
        <p:nvSpPr>
          <p:cNvPr id="13" name="el12"/>
          <p:cNvSpPr txBox="1"/>
          <p:nvPr/>
        </p:nvSpPr>
        <p:spPr>
          <a:xfrm>
            <a:off x="8128000" y="4737100"/>
            <a:ext cx="54483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敏感信息仅对授权人员开放，</a:t>
            </a:r>
            <a:endParaRPr lang="en-US" sz="2400" noProof="1"/>
          </a:p>
          <a:p>
            <a:pPr algn="ctr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有效防止数据泄露风险</a:t>
            </a:r>
            <a:endParaRPr lang="en-US" sz="2400" noProof="1"/>
          </a:p>
        </p:txBody>
      </p:sp>
      <p:sp>
        <p:nvSpPr>
          <p:cNvPr id="14" name="el13"/>
          <p:cNvSpPr txBox="1"/>
          <p:nvPr/>
        </p:nvSpPr>
        <p:spPr>
          <a:xfrm>
            <a:off x="8128000" y="67183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内置审计日志功能，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完整记录所有操作行为，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满足合规审查要求</a:t>
            </a:r>
            <a:endParaRPr lang="en-US" sz="2400" noProof="1"/>
          </a:p>
        </p:txBody>
      </p:sp>
      <p:pic>
        <p:nvPicPr>
          <p:cNvPr id="15" name="el14"/>
          <p:cNvPicPr/>
          <p:nvPr/>
        </p:nvPicPr>
        <p:blipFill>
          <a:blip r:embed="rId8"/>
          <a:stretch>
            <a:fillRect/>
          </a:stretch>
        </p:blipFill>
        <p:spPr>
          <a:xfrm>
            <a:off x="17322800" y="3390900"/>
            <a:ext cx="952500" cy="952500"/>
          </a:xfrm>
          <a:prstGeom prst="rect">
            <a:avLst/>
          </a:prstGeom>
          <a:ln>
            <a:noFill/>
          </a:ln>
        </p:spPr>
      </p:pic>
      <p:pic>
        <p:nvPicPr>
          <p:cNvPr id="16" name="el15"/>
          <p:cNvPicPr/>
          <p:nvPr/>
        </p:nvPicPr>
        <p:blipFill>
          <a:blip r:embed="rId9"/>
          <a:stretch>
            <a:fillRect/>
          </a:stretch>
        </p:blipFill>
        <p:spPr>
          <a:xfrm>
            <a:off x="17437100" y="3505200"/>
            <a:ext cx="711200" cy="711200"/>
          </a:xfrm>
          <a:prstGeom prst="rect">
            <a:avLst/>
          </a:prstGeom>
          <a:ln>
            <a:noFill/>
          </a:ln>
        </p:spPr>
      </p:pic>
      <p:sp>
        <p:nvSpPr>
          <p:cNvPr id="17" name="el16"/>
          <p:cNvSpPr txBox="1"/>
          <p:nvPr/>
        </p:nvSpPr>
        <p:spPr>
          <a:xfrm>
            <a:off x="15087600" y="47371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提供统一权限视图，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支持快速调整并实时生效，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显著提升管理效率</a:t>
            </a:r>
            <a:endParaRPr lang="en-US" sz="2400" noProof="1"/>
          </a:p>
        </p:txBody>
      </p:sp>
      <p:sp>
        <p:nvSpPr>
          <p:cNvPr id="18" name="el17"/>
          <p:cNvSpPr txBox="1"/>
          <p:nvPr/>
        </p:nvSpPr>
        <p:spPr>
          <a:xfrm>
            <a:off x="15087600" y="67183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支持多层级权限继承与覆盖机制，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适应复杂多变的组织架构需求</a:t>
            </a:r>
            <a:endParaRPr lang="en-US" sz="2400" noProof="1"/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2141200" y="0"/>
            <a:ext cx="9537700" cy="24384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812800" y="673100"/>
            <a:ext cx="200787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111827"/>
                </a:solidFill>
                <a:latin typeface="Arial"/>
                <a:ea typeface="Arial"/>
              </a:rPr>
              <a:t>API服务与系统集成</a:t>
            </a:r>
            <a:endParaRPr lang="en-US" sz="3600" noProof="1"/>
          </a:p>
        </p:txBody>
      </p:sp>
      <p:sp>
        <p:nvSpPr>
          <p:cNvPr id="4" name="el3"/>
          <p:cNvSpPr txBox="1"/>
          <p:nvPr/>
        </p:nvSpPr>
        <p:spPr>
          <a:xfrm>
            <a:off x="812800" y="15113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6B7280"/>
                </a:solidFill>
                <a:latin typeface="Arial"/>
                <a:ea typeface="Arial"/>
              </a:rPr>
              <a:t>打通AI能力，赋能企业数字化转型</a:t>
            </a:r>
            <a:endParaRPr lang="en-US" sz="2200" noProof="1"/>
          </a:p>
        </p:txBody>
      </p:sp>
      <p:sp>
        <p:nvSpPr>
          <p:cNvPr id="5" name="el4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sp>
        <p:nvSpPr>
          <p:cNvPr id="6" name="el5"/>
          <p:cNvSpPr txBox="1"/>
          <p:nvPr/>
        </p:nvSpPr>
        <p:spPr>
          <a:xfrm>
            <a:off x="812800" y="2832100"/>
            <a:ext cx="200787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核心能力与价值</a:t>
            </a:r>
            <a:endParaRPr lang="en-US" sz="2000" noProof="1"/>
          </a:p>
        </p:txBody>
      </p:sp>
      <p:sp>
        <p:nvSpPr>
          <p:cNvPr id="7" name="el6"/>
          <p:cNvSpPr/>
          <p:nvPr/>
        </p:nvSpPr>
        <p:spPr>
          <a:xfrm>
            <a:off x="812800" y="3416300"/>
            <a:ext cx="20053300" cy="863600"/>
          </a:xfrm>
          <a:prstGeom prst="roundRect">
            <a:avLst>
              <a:gd name="adj" fmla="val 7843"/>
            </a:avLst>
          </a:prstGeom>
          <a:solidFill>
            <a:srgbClr val="84BD0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el7"/>
          <p:cNvSpPr txBox="1"/>
          <p:nvPr/>
        </p:nvSpPr>
        <p:spPr>
          <a:xfrm>
            <a:off x="1079500" y="36195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Arial"/>
                <a:ea typeface="Arial"/>
              </a:rPr>
              <a:t>API Key授权调用</a:t>
            </a:r>
            <a:endParaRPr lang="en-US" sz="2000" noProof="1"/>
          </a:p>
        </p:txBody>
      </p:sp>
      <p:sp>
        <p:nvSpPr>
          <p:cNvPr id="9" name="el8"/>
          <p:cNvSpPr txBox="1"/>
          <p:nvPr/>
        </p:nvSpPr>
        <p:spPr>
          <a:xfrm>
            <a:off x="6235700" y="3619500"/>
            <a:ext cx="143891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Arial"/>
                <a:ea typeface="Arial"/>
              </a:rPr>
              <a:t>集成企业内部系统</a:t>
            </a:r>
            <a:endParaRPr lang="en-US" sz="2000" noProof="1"/>
          </a:p>
        </p:txBody>
      </p:sp>
      <p:sp>
        <p:nvSpPr>
          <p:cNvPr id="10" name="el9"/>
          <p:cNvSpPr/>
          <p:nvPr/>
        </p:nvSpPr>
        <p:spPr>
          <a:xfrm>
            <a:off x="812800" y="4279900"/>
            <a:ext cx="20053300" cy="50800"/>
          </a:xfrm>
          <a:prstGeom prst="roundRect">
            <a:avLst>
              <a:gd name="adj" fmla="val 133333"/>
            </a:avLst>
          </a:prstGeom>
          <a:solidFill>
            <a:srgbClr val="FFFFFF">
              <a:alpha val="0"/>
            </a:srgbClr>
          </a:solidFill>
          <a:ln w="50800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1" name="el10"/>
          <p:cNvSpPr/>
          <p:nvPr/>
        </p:nvSpPr>
        <p:spPr>
          <a:xfrm>
            <a:off x="812800" y="4330700"/>
            <a:ext cx="20053300" cy="1892300"/>
          </a:xfrm>
          <a:prstGeom prst="roundRect">
            <a:avLst>
              <a:gd name="adj" fmla="val 3571"/>
            </a:avLst>
          </a:prstGeom>
          <a:solidFill>
            <a:srgbClr val="000000">
              <a:alpha val="0"/>
            </a:srgbClr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2" name="el11"/>
          <p:cNvSpPr txBox="1"/>
          <p:nvPr/>
        </p:nvSpPr>
        <p:spPr>
          <a:xfrm>
            <a:off x="812800" y="46101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无缝嵌入工作流</a:t>
            </a:r>
            <a:endParaRPr lang="en-US" sz="2000" noProof="1"/>
          </a:p>
        </p:txBody>
      </p:sp>
      <p:sp>
        <p:nvSpPr>
          <p:cNvPr id="13" name="el12"/>
          <p:cNvSpPr txBox="1"/>
          <p:nvPr/>
        </p:nvSpPr>
        <p:spPr>
          <a:xfrm>
            <a:off x="6362700" y="46101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将AI能力嵌入现有业务流程，提升自动化水平，减少人工操作。通过标准化接口快速对接，显著降低开发成本。</a:t>
            </a:r>
            <a:endParaRPr lang="en-US" sz="2000" noProof="1"/>
          </a:p>
        </p:txBody>
      </p:sp>
      <p:sp>
        <p:nvSpPr>
          <p:cNvPr id="14" name="el13"/>
          <p:cNvSpPr txBox="1"/>
          <p:nvPr/>
        </p:nvSpPr>
        <p:spPr>
          <a:xfrm>
            <a:off x="6362700" y="55372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提供完整的API文档与技术支持，保障集成高效稳定，缩短上线周期。为未来智能化升级预留扩展空间。</a:t>
            </a:r>
            <a:endParaRPr lang="en-US" sz="2000" noProof="1"/>
          </a:p>
        </p:txBody>
      </p:sp>
      <p:sp>
        <p:nvSpPr>
          <p:cNvPr id="15" name="el14"/>
          <p:cNvSpPr/>
          <p:nvPr/>
        </p:nvSpPr>
        <p:spPr>
          <a:xfrm>
            <a:off x="812800" y="6235700"/>
            <a:ext cx="20053300" cy="50800"/>
          </a:xfrm>
          <a:prstGeom prst="roundRect">
            <a:avLst>
              <a:gd name="adj" fmla="val 133333"/>
            </a:avLst>
          </a:prstGeom>
          <a:solidFill>
            <a:srgbClr val="FFFFFF">
              <a:alpha val="0"/>
            </a:srgbClr>
          </a:solidFill>
          <a:ln w="50800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6" name="el15"/>
          <p:cNvSpPr txBox="1"/>
          <p:nvPr/>
        </p:nvSpPr>
        <p:spPr>
          <a:xfrm>
            <a:off x="812800" y="65532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构建智能生态</a:t>
            </a:r>
            <a:endParaRPr lang="en-US" sz="2000" noProof="1"/>
          </a:p>
        </p:txBody>
      </p:sp>
      <p:sp>
        <p:nvSpPr>
          <p:cNvPr id="17" name="el16"/>
          <p:cNvSpPr txBox="1"/>
          <p:nvPr/>
        </p:nvSpPr>
        <p:spPr>
          <a:xfrm>
            <a:off x="6362700" y="65532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支持多系统协同，推动跨部门数据联动与流程优化。统一API权限管理，确保调用安全可控。</a:t>
            </a:r>
            <a:endParaRPr lang="en-US" sz="2000" noProof="1"/>
          </a:p>
        </p:txBody>
      </p:sp>
      <p:sp>
        <p:nvSpPr>
          <p:cNvPr id="18" name="el17"/>
          <p:cNvSpPr txBox="1"/>
          <p:nvPr/>
        </p:nvSpPr>
        <p:spPr>
          <a:xfrm>
            <a:off x="6362700" y="70485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为后续接入更多AI功能与业务系统奠定基础，助力企业持续智能化演进。兼顾灵活性与系统稳定性。</a:t>
            </a:r>
            <a:endParaRPr lang="en-US" sz="2000" noProof="1"/>
          </a:p>
        </p:txBody>
      </p:sp>
      <p:sp>
        <p:nvSpPr>
          <p:cNvPr id="19" name="el18"/>
          <p:cNvSpPr/>
          <p:nvPr/>
        </p:nvSpPr>
        <p:spPr>
          <a:xfrm>
            <a:off x="812800" y="7734300"/>
            <a:ext cx="20053300" cy="50800"/>
          </a:xfrm>
          <a:prstGeom prst="roundRect">
            <a:avLst>
              <a:gd name="adj" fmla="val 133333"/>
            </a:avLst>
          </a:prstGeom>
          <a:solidFill>
            <a:srgbClr val="FFFFFF">
              <a:alpha val="0"/>
            </a:srgbClr>
          </a:solidFill>
          <a:ln w="50800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0" name="el19"/>
          <p:cNvSpPr txBox="1"/>
          <p:nvPr/>
        </p:nvSpPr>
        <p:spPr>
          <a:xfrm>
            <a:off x="812800" y="80645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降低集成门槛</a:t>
            </a:r>
            <a:endParaRPr lang="en-US" sz="2000" noProof="1"/>
          </a:p>
        </p:txBody>
      </p:sp>
      <p:sp>
        <p:nvSpPr>
          <p:cNvPr id="21" name="el20"/>
          <p:cNvSpPr txBox="1"/>
          <p:nvPr/>
        </p:nvSpPr>
        <p:spPr>
          <a:xfrm>
            <a:off x="6362700" y="80645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提供标准化接口和详尽文档，支持快速对接与验证，降低技术团队学习成本，提升实施效率。</a:t>
            </a:r>
            <a:endParaRPr lang="en-US" sz="2000" noProof="1"/>
          </a:p>
        </p:txBody>
      </p:sp>
      <p:sp>
        <p:nvSpPr>
          <p:cNvPr id="22" name="el21"/>
          <p:cNvSpPr txBox="1"/>
          <p:nvPr/>
        </p:nvSpPr>
        <p:spPr>
          <a:xfrm>
            <a:off x="6362700" y="85471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配备专业支持团队，全程协助部署，确保项目顺利落地。实现从接入到应用的全链路闭环。</a:t>
            </a:r>
            <a:endParaRPr lang="en-US" sz="2000" noProof="1"/>
          </a:p>
        </p:txBody>
      </p:sp>
      <p:sp>
        <p:nvSpPr>
          <p:cNvPr id="23" name="el22"/>
          <p:cNvSpPr/>
          <p:nvPr/>
        </p:nvSpPr>
        <p:spPr>
          <a:xfrm>
            <a:off x="812800" y="9258300"/>
            <a:ext cx="20053300" cy="50800"/>
          </a:xfrm>
          <a:prstGeom prst="roundRect">
            <a:avLst>
              <a:gd name="adj" fmla="val 133333"/>
            </a:avLst>
          </a:prstGeom>
          <a:solidFill>
            <a:srgbClr val="FFFFFF">
              <a:alpha val="0"/>
            </a:srgbClr>
          </a:solidFill>
          <a:ln w="50800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1219200" y="4978400"/>
            <a:ext cx="101981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90000"/>
              </a:lnSpc>
            </a:pPr>
            <a:r>
              <a:rPr lang="en-US" sz="6000" noProof="1" b="1">
                <a:solidFill>
                  <a:srgbClr val="111827"/>
                </a:solidFill>
                <a:latin typeface="Noto Sans SC"/>
                <a:ea typeface="Noto Sans SC"/>
              </a:rPr>
              <a:t>总结与展望</a:t>
            </a:r>
            <a:endParaRPr lang="en-US" sz="6000" noProof="1"/>
          </a:p>
        </p:txBody>
      </p:sp>
      <p:sp>
        <p:nvSpPr>
          <p:cNvPr id="3" name="el2"/>
          <p:cNvSpPr txBox="1"/>
          <p:nvPr/>
        </p:nvSpPr>
        <p:spPr>
          <a:xfrm>
            <a:off x="1219200" y="6667500"/>
            <a:ext cx="101981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>
                <a:solidFill>
                  <a:srgbClr val="6B7280"/>
                </a:solidFill>
                <a:latin typeface="Calibri"/>
                <a:ea typeface="Calibri"/>
              </a:rPr>
              <a:t>D.Nova：赋能组织智能化转型</a:t>
            </a:r>
            <a:endParaRPr lang="en-US" sz="4000" noProof="1"/>
          </a:p>
        </p:txBody>
      </p:sp>
      <p:sp>
        <p:nvSpPr>
          <p:cNvPr id="4" name="el3"/>
          <p:cNvSpPr txBox="1"/>
          <p:nvPr/>
        </p:nvSpPr>
        <p:spPr>
          <a:xfrm>
            <a:off x="1219200" y="124968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5" name="el4"/>
          <p:cNvPicPr/>
          <p:nvPr/>
        </p:nvPicPr>
        <p:blipFill>
          <a:blip r:embed="rId2"/>
          <a:stretch>
            <a:fillRect/>
          </a:stretch>
        </p:blipFill>
        <p:spPr>
          <a:xfrm>
            <a:off x="11925300" y="0"/>
            <a:ext cx="9753600" cy="12192000"/>
          </a:xfrm>
          <a:prstGeom prst="rect">
            <a:avLst/>
          </a:prstGeom>
          <a:ln>
            <a:noFill/>
          </a:ln>
        </p:spPr>
      </p:pic>
      <p:pic>
        <p:nvPicPr>
          <p:cNvPr id="6" name="el5"/>
          <p:cNvPicPr/>
          <p:nvPr/>
        </p:nvPicPr>
        <p:blipFill>
          <a:blip r:embed="rId3"/>
          <a:stretch>
            <a:fillRect/>
          </a:stretch>
        </p:blipFill>
        <p:spPr>
          <a:xfrm>
            <a:off x="673100" y="406400"/>
            <a:ext cx="1892300" cy="9525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15</Slides>
</Properties>
</file>

<file path=docProps/core.xml><?xml version="1.0" encoding="utf-8"?>
<cp:coreProperties xmlns:dc="http://purl.org/dc/elements/1.1/" xmlns:cp="http://schemas.openxmlformats.org/package/2006/metadata/core-properties"/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