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96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D.Nova 是德勤面向全员的一体化生成式AI平台，作为智能服务中枢，支持跨职能、多场景的协作。系统具备安全、高效、可扩展的特性，全面赋能业务流程与团队协作。重点突出其统一入口、企业级安全与灵活扩展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D.Nova 是德勤推出的全新一体化生成式AI平台，聚焦统一入口、高效协同、安全合规与技术前沿四大核心定位。通过本地私有化部署，确保数据安全与合规；集成主流大模型，支持持续迭代；为员工提供一致、高效、安全的AI服务体验，助力业务模式创新与效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聚焦平台的核心价值。通过自动化释放人力，提升效率；AI辅助确保输出质量；智能体与模板激发创新；知识沉淀实现组织能力积累；灵活扩展支持规模化落地。这些能力共同构建可持续的智能竞争力。重点强调AI不仅是工具，更是组织进化的关键驱动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D.Nova 提供从智能交互到应用落地的全链路支持。智能问答和多轮对话提升人机协作效率；知识管理帮助组织沉淀与复用知识资产；共创智能集市连接开发者与用户，实现工具共享；工作助手覆盖日常办公高频场景；应用中心聚焦行业定制化需求；权限与API服务确保安全可控的系统集成。整体构建企业级智能生产力中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模块通过融合多模型能力，实现自然语言交互与智能内容生成。支持从简单问答到复杂报告起草的全链路任务处理，写作空间支持分段优化与AI协同，提升创作效率。模型持续更新，确保性能与技术领先。整体响应速度快，适用于企业级内容生产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系统通过多轮对话与上下文记忆，实现复杂任务的分步推进。会话状态自动保存确保任务不中断，历史记录支持复盘与协作。双模式界面兼顾易用与功能深度，任务导向设计聚焦目标达成，全面提升工作效率。系统设计以用户实际工作流为核心，真正实现智能辅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模块通过集中化管理与智能化处理，帮助企业实现知识资产的统一沉淀与高效利用。自动摘要与标签生成大幅降低人工维护负担，自定义分段策略提升检索准确率。多格式兼容与问答对录入方式，让知识构建更灵活、更快速，助力企业打造可持续演进的专业知识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功能通过语义理解技术，打破传统关键词检索的局限，实现更精准、更智能的信息获取。系统能自动关联跨文档内容，构建知识网络，显著提升信息发现效率。知识条目可被智能体和提示词模板调用，实现动态复用。同时，支持组织级知识沉淀，推动最佳实践和项目经验的共享传播。在新人培训和项目启动阶段，提供高效、可快速调用的知识支持，提升整体协作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共创智能集市作为德勤内部统一的AI资源入口，整合提示词模板、智能体、知识库与工具插件，实现资源集中管理与高效调用。平台支持用户收藏与复用，提升使用粘性。持续接入新能力，推动AI服务生态的构建与演进，助力组织智能化转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数字顾问负责方案撰写与报告生成，大幅提升交付效率；分析助手可自动执行数据查询与可视化，助力快速决策；翻译助手则实现多语言精准转换，适用于跨国协作场景。三者协同，全面赋能业务提效。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作助手模块涵盖文档、翻译、语音和编程四大核心功能。文档助手支持智能总结与问答，提升信息处理效率；翻译助手实现多语言精准转换，保持格式一致；语音助手可自动转写会议内容并提炼要点；编程助手则辅助代码开发，提高编写质量与速度。所有模块均与主平台无缝集成，操作简洁，支持多端同步，适用于多种办公场景。模块化设计便于灵活配置，满足不同企业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应用中心以行业场景为核心，通过集成GenAI能力，实现对金融、医疗等领域的深度赋能。每个应用独立运行，具备安全隔离与灵活调用能力，支持快速部署和按需使用。同时，提供统一管理平台，实现全生命周期管控，助力企业高效推进AI项目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权限管理体系通过分层配置，实现从部门到具体项目的精细化控制。管理员可基于角色和项目动态分配权限，确保知识库、智能体和应用系统访问安全可控。所有操作均记录在审计日志中，支持事后追溯，满足合规要求。系统支持灵活调整，适应组织变化，保障数据安全与运营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本页介绍API服务与系统集成的核心能力。通过API Key机制，外部系统可安全调用AI模型。支持与企业OA、CRM、项目管理等系统对接，实现AI能力无缝嵌入现有工作流，提升自动化水平。提供标准接口文档与全程技术支持，降低集成门槛。为未来智能化系统扩展预留接口，助力企业构建可持续发展的智能生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.Nova作为德勤智能化转型的核心基础设施，不仅覆盖通用任务与专业场景的AI支持，更以安全合规为基石，推动AI在组织内的规模化落地。通过持续迭代模型与功能模块，构建可持续进化的AI生态，最终目标是让每位员工都能成为‘AI增强型人才’，实现人机协同的高效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1200" y="6959600"/>
            <a:ext cx="40005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defRPr sz="3200" b="0" i="0">
                <a:solidFill>
                  <a:srgbClr val="046A38"/>
                </a:solidFill>
                <a:latin typeface="Noto Sans SC"/>
              </a:defRPr>
            </a:pPr>
            <a:r>
              <a:rPr sz="3200" b="0" i="0">
                <a:solidFill>
                  <a:srgbClr val="046A38"/>
                </a:solidFill>
                <a:latin typeface="Noto Sans SC"/>
              </a:rPr>
              <a:t>德勤 D.Nova 系统介绍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569200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1" i="0">
                <a:solidFill>
                  <a:srgbClr val="000000"/>
                </a:solidFill>
                <a:latin typeface="Noto Sans SC"/>
              </a:defRPr>
            </a:pPr>
            <a:r>
              <a:rPr sz="1900" b="1" i="0">
                <a:solidFill>
                  <a:srgbClr val="000000"/>
                </a:solidFill>
                <a:latin typeface="Noto Sans SC"/>
              </a:rPr>
              <a:t>2026年2月26日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7975600"/>
            <a:ext cx="40005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000000"/>
                </a:solidFill>
                <a:latin typeface="Noto Sans SC"/>
              </a:defRPr>
            </a:pPr>
            <a:r>
              <a:rPr sz="1400" b="0" i="0">
                <a:solidFill>
                  <a:srgbClr val="000000"/>
                </a:solidFill>
                <a:latin typeface="Noto Sans SC"/>
              </a:rPr>
              <a:t>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8280400"/>
            <a:ext cx="40005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DC143C"/>
                </a:solidFill>
                <a:latin typeface="Noto Sans SC"/>
              </a:defRPr>
            </a:pPr>
            <a:r>
              <a:rPr sz="1400" b="0" i="0">
                <a:solidFill>
                  <a:srgbClr val="DC143C"/>
                </a:solidFill>
                <a:latin typeface="Noto Sans SC"/>
              </a:rPr>
              <a:t>仅限内部使用</a:t>
            </a:r>
          </a:p>
        </p:txBody>
      </p:sp>
      <p:pic>
        <p:nvPicPr>
          <p:cNvPr id="6" name="Picture 5" descr="ba3ad622-62c9-495e-909c-bb08aa43f1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04800"/>
            <a:ext cx="1422400" cy="711200"/>
          </a:xfrm>
          <a:prstGeom prst="rect">
            <a:avLst/>
          </a:prstGeom>
        </p:spPr>
      </p:pic>
      <p:pic>
        <p:nvPicPr>
          <p:cNvPr id="7" name="Picture 6" descr="7d932222-8d96-4a4b-a6ab-cc32a49192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5200" y="304800"/>
            <a:ext cx="812800" cy="711200"/>
          </a:xfrm>
          <a:prstGeom prst="rect">
            <a:avLst/>
          </a:prstGeom>
        </p:spPr>
      </p:pic>
      <p:pic>
        <p:nvPicPr>
          <p:cNvPr id="8" name="Picture 7" descr="3f12b158-e3a3-4d9c-b338-b0145fa217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0" y="914400"/>
            <a:ext cx="81280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5b98294-a6de-4776-b6a0-24f324524d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50622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D.Nova 平台定位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462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4B5563"/>
                </a:solidFill>
                <a:latin typeface="Arial"/>
              </a:defRPr>
            </a:pPr>
            <a:r>
              <a:rPr sz="2400" b="0" i="0">
                <a:solidFill>
                  <a:srgbClr val="4B5563"/>
                </a:solidFill>
                <a:latin typeface="Arial"/>
              </a:rPr>
              <a:t>德勤全新推出的一体化生成式人工智能平台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540000"/>
            <a:ext cx="7010400" cy="2692400"/>
          </a:xfrm>
          <a:prstGeom prst="roundRect">
            <a:avLst>
              <a:gd name="adj" fmla="val 1886"/>
            </a:avLst>
          </a:prstGeom>
          <a:solidFill>
            <a:srgbClr val="59B210">
              <a:alpha val="3000"/>
            </a:srgbClr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2800" y="27432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27940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4800" y="31242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统一入口：为全体员工提供一致的AI服务体验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4800" y="41783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 dirty="0" err="1">
                <a:solidFill>
                  <a:srgbClr val="111827"/>
                </a:solidFill>
                <a:latin typeface="Arial"/>
              </a:rPr>
              <a:t>高效协同：集成主流大语言模型，持续更新迭代</a:t>
            </a:r>
            <a:endParaRPr sz="2400" b="0" i="0" dirty="0">
              <a:solidFill>
                <a:srgbClr val="111827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36000" y="2540000"/>
            <a:ext cx="7010400" cy="2692400"/>
          </a:xfrm>
          <a:prstGeom prst="roundRect">
            <a:avLst>
              <a:gd name="adj" fmla="val 1886"/>
            </a:avLst>
          </a:prstGeom>
          <a:solidFill>
            <a:srgbClr val="59B210">
              <a:alpha val="3000"/>
            </a:srgbClr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39200" y="27432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39200" y="27940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31242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安全合规：基于本地私有化部署，保障数据安全与业务合规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1783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技术前沿：融合最新生成式AI能力，推动工作模式革新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6045200"/>
            <a:ext cx="7010400" cy="2692400"/>
          </a:xfrm>
          <a:prstGeom prst="roundRect">
            <a:avLst>
              <a:gd name="adj" fmla="val 1886"/>
            </a:avLst>
          </a:prstGeom>
          <a:solidFill>
            <a:srgbClr val="59B210">
              <a:alpha val="3000"/>
            </a:srgbClr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800" y="62484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2800" y="62992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74800" y="66294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智能应用：支持多种场景化工具，提升工作效率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4800" y="76962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开放集成：提供API接口，便于与现有系统无缝对接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6000" y="6045200"/>
            <a:ext cx="7010400" cy="2692400"/>
          </a:xfrm>
          <a:prstGeom prst="roundRect">
            <a:avLst>
              <a:gd name="adj" fmla="val 1886"/>
            </a:avLst>
          </a:prstGeom>
          <a:solidFill>
            <a:srgbClr val="59B210">
              <a:alpha val="3000"/>
            </a:srgbClr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39200" y="62484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39200" y="6299200"/>
            <a:ext cx="6604000" cy="254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66294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全员赋能：提供培训与支持，助力员工快速上手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7696200"/>
            <a:ext cx="5105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持续进化：基于反馈优化功能，保持平台先进性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02e77e-f065-4fb7-8dc2-c49757f03d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0" y="0"/>
            <a:ext cx="71501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08000"/>
            <a:ext cx="150622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 i="0">
                <a:solidFill>
                  <a:srgbClr val="111827"/>
                </a:solidFill>
                <a:latin typeface="Arial"/>
              </a:defRPr>
            </a:pPr>
            <a:r>
              <a:rPr sz="3600" b="1" i="0">
                <a:solidFill>
                  <a:srgbClr val="111827"/>
                </a:solidFill>
                <a:latin typeface="Arial"/>
              </a:rPr>
              <a:t>核心目标与价值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303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 i="0">
                <a:solidFill>
                  <a:srgbClr val="6B7280"/>
                </a:solidFill>
                <a:latin typeface="Arial"/>
              </a:defRPr>
            </a:pPr>
            <a:r>
              <a:rPr sz="2200" b="0" i="0">
                <a:solidFill>
                  <a:srgbClr val="6B7280"/>
                </a:solidFill>
                <a:latin typeface="Arial"/>
              </a:rPr>
              <a:t>驱动智能升级，赋能组织高效发展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20900"/>
            <a:ext cx="15062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五大核心价值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565400"/>
            <a:ext cx="15036800" cy="647700"/>
          </a:xfrm>
          <a:prstGeom prst="roundRect">
            <a:avLst>
              <a:gd name="adj" fmla="val 7843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27178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</a:rPr>
              <a:t>提升效率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2717800"/>
            <a:ext cx="10795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</a:rPr>
              <a:t>增强质量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213100"/>
            <a:ext cx="150368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34290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专业性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200" y="3429000"/>
            <a:ext cx="108966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通过AI智能校对与优化，确保输出内容精准、规范，符合行业标准，显著降低人工修改成本，提升交付速度与专业水准。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200" y="4127500"/>
            <a:ext cx="108966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 dirty="0" err="1">
                <a:solidFill>
                  <a:srgbClr val="111827"/>
                </a:solidFill>
                <a:latin typeface="Arial"/>
              </a:rPr>
              <a:t>支持多语言、多格式内容生成，覆盖技术文档、商业报告、代码注释等关键场景，输出质量随使用持续优化</a:t>
            </a:r>
            <a:r>
              <a:rPr sz="1800" b="0" i="0" dirty="0">
                <a:solidFill>
                  <a:srgbClr val="111827"/>
                </a:solidFill>
                <a:latin typeface="Arial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4965700"/>
            <a:ext cx="150368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51816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促进创新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5200" y="5181600"/>
            <a:ext cx="108966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基于智能体与提示词模板，激发创意构思与策略输出，支持快速原型设计与方案迭代，助力团队突破思维定式。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5200" y="5867400"/>
            <a:ext cx="108966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支持个性化提示工程，适配不同业务场景与角色需求，推动创新从想法到落地的高效转化。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6400800"/>
            <a:ext cx="150368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66167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知识沉淀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5200" y="6616700"/>
            <a:ext cx="108966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构建可复用的知识资产库，实现经验与最佳实践的结构化存储，支持版本管理与权限控制，确保知识安全共享。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7383055"/>
            <a:ext cx="150368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600" y="7612016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 dirty="0" err="1">
                <a:solidFill>
                  <a:srgbClr val="111827"/>
                </a:solidFill>
                <a:latin typeface="Arial"/>
              </a:rPr>
              <a:t>灵活扩展</a:t>
            </a:r>
            <a:endParaRPr sz="1800" b="0" i="0" dirty="0">
              <a:solidFill>
                <a:srgbClr val="111827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5200" y="7559763"/>
            <a:ext cx="108966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 dirty="0" err="1">
                <a:solidFill>
                  <a:srgbClr val="111827"/>
                </a:solidFill>
                <a:latin typeface="Arial"/>
              </a:rPr>
              <a:t>支持API接入与第三方系统集成，无缝嵌入现有工作流，可按需扩展功能模块，适配不同业务规模与复杂度</a:t>
            </a:r>
            <a:r>
              <a:rPr sz="1800" b="0" i="0" dirty="0">
                <a:solidFill>
                  <a:srgbClr val="111827"/>
                </a:solidFill>
                <a:latin typeface="Arial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" y="9893300"/>
            <a:ext cx="150368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d932222-8d96-4a4b-a6ab-cc32a49192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304800"/>
            <a:ext cx="812800" cy="711200"/>
          </a:xfrm>
          <a:prstGeom prst="rect">
            <a:avLst/>
          </a:prstGeom>
        </p:spPr>
      </p:pic>
      <p:pic>
        <p:nvPicPr>
          <p:cNvPr id="3" name="Picture 2" descr="1a5946d1-9512-49db-be83-085e5ad932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7315200"/>
            <a:ext cx="71501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50622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D.Nova 功能全景图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62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4B5563"/>
                </a:solidFill>
                <a:latin typeface="Arial"/>
              </a:defRPr>
            </a:pPr>
            <a:r>
              <a:rPr sz="2400" b="0" i="0">
                <a:solidFill>
                  <a:srgbClr val="4B5563"/>
                </a:solidFill>
                <a:latin typeface="Arial"/>
              </a:rPr>
              <a:t>一站式智能生产力平台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pic>
        <p:nvPicPr>
          <p:cNvPr id="7" name="Picture 6" descr="e61ace29-236f-4d2e-aef3-d82a6fe287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900" y="2540000"/>
            <a:ext cx="812800" cy="812800"/>
          </a:xfrm>
          <a:prstGeom prst="rect">
            <a:avLst/>
          </a:prstGeom>
        </p:spPr>
      </p:pic>
      <p:pic>
        <p:nvPicPr>
          <p:cNvPr id="8" name="Picture 7" descr="e0cab763-7a55-4034-a4b1-a1f70e2b1e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0" y="2641600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36576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智能问答：支持通用任务处理与多轮对话，提升人机交互效率和协作体验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1435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知识管理：构建企业专属知识库，实现知识沉淀与高效智能检索</a:t>
            </a:r>
          </a:p>
        </p:txBody>
      </p:sp>
      <p:pic>
        <p:nvPicPr>
          <p:cNvPr id="11" name="Picture 10" descr="e61ace29-236f-4d2e-aef3-d82a6fe287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0" y="2540000"/>
            <a:ext cx="812800" cy="812800"/>
          </a:xfrm>
          <a:prstGeom prst="rect">
            <a:avLst/>
          </a:prstGeom>
        </p:spPr>
      </p:pic>
      <p:pic>
        <p:nvPicPr>
          <p:cNvPr id="12" name="Picture 11" descr="e0cab763-7a55-4034-a4b1-a1f70e2b1e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200" y="2641600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0" y="36576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共创智能集市：一站式访问AI工具与智能体，促进生态协作与创新落地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51435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工作助手：覆盖文档处理、翻译、语音、编程等高频办公场景，提升日常效率</a:t>
            </a:r>
          </a:p>
        </p:txBody>
      </p:sp>
      <p:pic>
        <p:nvPicPr>
          <p:cNvPr id="15" name="Picture 14" descr="e61ace29-236f-4d2e-aef3-d82a6fe287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1300" y="2540000"/>
            <a:ext cx="812800" cy="812800"/>
          </a:xfrm>
          <a:prstGeom prst="rect">
            <a:avLst/>
          </a:prstGeom>
        </p:spPr>
      </p:pic>
      <p:pic>
        <p:nvPicPr>
          <p:cNvPr id="16" name="Picture 15" descr="e0cab763-7a55-4034-a4b1-a1f70e2b1e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2900" y="2641600"/>
            <a:ext cx="609600" cy="609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15700" y="36576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应用中心：提供面向行业与业务场景的定制化GenAI应用集合，加速价值实现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5700" y="51435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权限管理与API服务：支持安全可控的资源访问和系统集成，保障企业级合规需求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d932222-8d96-4a4b-a6ab-cc32a49192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304800"/>
            <a:ext cx="812800" cy="71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06400"/>
            <a:ext cx="150622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智能问答模块概述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4B5563"/>
                </a:solidFill>
                <a:latin typeface="Arial"/>
              </a:defRPr>
            </a:pPr>
            <a:r>
              <a:rPr sz="2400" b="0" i="0">
                <a:solidFill>
                  <a:srgbClr val="4B5563"/>
                </a:solidFill>
                <a:latin typeface="Arial"/>
              </a:rPr>
              <a:t>赋能自然语言交互与高效内容创作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36800"/>
            <a:ext cx="77851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 i="0">
                <a:solidFill>
                  <a:srgbClr val="046A38"/>
                </a:solidFill>
                <a:latin typeface="Arial"/>
              </a:defRPr>
            </a:pPr>
            <a:r>
              <a:rPr sz="2800" b="1" i="0">
                <a:solidFill>
                  <a:srgbClr val="046A38"/>
                </a:solidFill>
                <a:latin typeface="Arial"/>
              </a:rPr>
              <a:t>核心功能覆盖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82900"/>
            <a:ext cx="77851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F2937"/>
                </a:solidFill>
                <a:latin typeface="Arial"/>
              </a:defRPr>
            </a:pPr>
            <a:r>
              <a:rPr sz="2000" b="0" i="0">
                <a:solidFill>
                  <a:srgbClr val="1F2937"/>
                </a:solidFill>
                <a:latin typeface="Arial"/>
              </a:rPr>
              <a:t>支持自然语言交互，完成问答、创作、翻译、改写、总结等多类任务，满足多样化内容处理需求。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60800"/>
            <a:ext cx="77851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 i="0">
                <a:solidFill>
                  <a:srgbClr val="046A38"/>
                </a:solidFill>
                <a:latin typeface="Arial"/>
              </a:defRPr>
            </a:pPr>
            <a:r>
              <a:rPr sz="2800" b="1" i="0">
                <a:solidFill>
                  <a:srgbClr val="046A38"/>
                </a:solidFill>
                <a:latin typeface="Arial"/>
              </a:rPr>
              <a:t>模型生态集成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06900"/>
            <a:ext cx="77851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F2937"/>
                </a:solidFill>
                <a:latin typeface="Arial"/>
              </a:defRPr>
            </a:pPr>
            <a:r>
              <a:rPr sz="2000" b="0" i="0">
                <a:solidFill>
                  <a:srgbClr val="1F2937"/>
                </a:solidFill>
                <a:latin typeface="Arial"/>
              </a:rPr>
              <a:t>集成主流预训练大模型，支持自由切换与定期更新，保障技术持续领先；提供100+模型选项，平均响应速度低于800毫秒。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384800"/>
            <a:ext cx="77851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 i="0">
                <a:solidFill>
                  <a:srgbClr val="046A38"/>
                </a:solidFill>
                <a:latin typeface="Arial"/>
              </a:defRPr>
            </a:pPr>
            <a:r>
              <a:rPr sz="2800" b="1" i="0">
                <a:solidFill>
                  <a:srgbClr val="046A38"/>
                </a:solidFill>
                <a:latin typeface="Arial"/>
              </a:rPr>
              <a:t>性能与开源优势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930900"/>
            <a:ext cx="77851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F2937"/>
                </a:solidFill>
                <a:latin typeface="Arial"/>
              </a:defRPr>
            </a:pPr>
            <a:r>
              <a:rPr sz="2000" b="0" i="0">
                <a:solidFill>
                  <a:srgbClr val="1F2937"/>
                </a:solidFill>
                <a:latin typeface="Arial"/>
              </a:rPr>
              <a:t>引入优质开源模型，在保证技术先进性的同时优化响应性能，实现高性价比部署；95%的任务响应时间小于1秒。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08800"/>
            <a:ext cx="7785100" cy="44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 i="0">
                <a:solidFill>
                  <a:srgbClr val="046A38"/>
                </a:solidFill>
                <a:latin typeface="Arial"/>
              </a:defRPr>
            </a:pPr>
            <a:r>
              <a:rPr sz="2800" b="1" i="0">
                <a:solidFill>
                  <a:srgbClr val="046A38"/>
                </a:solidFill>
                <a:latin typeface="Arial"/>
              </a:rPr>
              <a:t>智能写作支持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454900"/>
            <a:ext cx="77851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F2937"/>
                </a:solidFill>
                <a:latin typeface="Arial"/>
              </a:defRPr>
            </a:pPr>
            <a:r>
              <a:rPr sz="2000" b="0" i="0">
                <a:solidFill>
                  <a:srgbClr val="1F2937"/>
                </a:solidFill>
                <a:latin typeface="Arial"/>
              </a:rPr>
              <a:t>提供结构化写作环境，支持分段编辑、AI补写和全文优化，有效辅助长文本撰写与专业报告生成。</a:t>
            </a:r>
          </a:p>
        </p:txBody>
      </p:sp>
      <p:pic>
        <p:nvPicPr>
          <p:cNvPr id="13" name="Picture 12" descr="3583e8c0-92ac-477c-b6c1-cb8cbd0deb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0" y="3149600"/>
            <a:ext cx="646430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09600"/>
            <a:ext cx="144526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70000"/>
              </a:lnSpc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智能问答核心特性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114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26890D"/>
                </a:solidFill>
                <a:latin typeface="Calibri"/>
              </a:defRPr>
            </a:pPr>
            <a:r>
              <a:rPr sz="6600" b="1" i="0">
                <a:solidFill>
                  <a:srgbClr val="26890D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8500" y="1968500"/>
            <a:ext cx="59309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26890D"/>
                </a:solidFill>
                <a:latin typeface="Calibri"/>
              </a:defRPr>
            </a:pPr>
            <a:r>
              <a:rPr sz="2000" b="1" i="0">
                <a:solidFill>
                  <a:srgbClr val="26890D"/>
                </a:solidFill>
                <a:latin typeface="Calibri"/>
              </a:rPr>
              <a:t>多轮对话与上下文记忆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8500" y="2387600"/>
            <a:ext cx="5930900" cy="111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支持长期任务分阶段推进，保持对话连贯性，精准理解用户意图演变。在复杂任务中持续追踪上下文，确保每一步决策有据可依。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0" y="23114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43B02A"/>
                </a:solidFill>
                <a:latin typeface="Calibri"/>
              </a:defRPr>
            </a:pPr>
            <a:r>
              <a:rPr sz="6600" b="1" i="0">
                <a:solidFill>
                  <a:srgbClr val="43B02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36100" y="2146300"/>
            <a:ext cx="59309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43B02A"/>
                </a:solidFill>
                <a:latin typeface="Calibri"/>
              </a:defRPr>
            </a:pPr>
            <a:r>
              <a:rPr sz="2000" b="1" i="0">
                <a:solidFill>
                  <a:srgbClr val="43B02A"/>
                </a:solidFill>
                <a:latin typeface="Calibri"/>
              </a:rPr>
              <a:t>会话状态自动保存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100" y="2565400"/>
            <a:ext cx="5930900" cy="7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未完成任务可随时中断并恢复，无需重复输入，提升操作连续性。系统自动记录进度，保障任务不丢失。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514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86BC25"/>
                </a:solidFill>
                <a:latin typeface="Calibri"/>
              </a:defRPr>
            </a:pPr>
            <a:r>
              <a:rPr sz="66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8500" y="4686300"/>
            <a:ext cx="59309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86BC25"/>
                </a:solidFill>
                <a:latin typeface="Calibri"/>
              </a:defRPr>
            </a:pPr>
            <a:r>
              <a:rPr sz="2000" b="1" i="0">
                <a:solidFill>
                  <a:srgbClr val="86BC25"/>
                </a:solidFill>
                <a:latin typeface="Calibri"/>
              </a:rPr>
              <a:t>历史会话可追溯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8500" y="5105400"/>
            <a:ext cx="5930900" cy="7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所有对话记录可查可复用，便于复盘分析与团队协作，支持知识沉淀，提升工作透明度与协同效率。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48514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53565A"/>
                </a:solidFill>
                <a:latin typeface="Calibri"/>
              </a:defRPr>
            </a:pPr>
            <a:r>
              <a:rPr sz="6600" b="1" i="0">
                <a:solidFill>
                  <a:srgbClr val="53565A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100" y="4686300"/>
            <a:ext cx="59309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53565A"/>
                </a:solidFill>
                <a:latin typeface="Calibri"/>
              </a:defRPr>
            </a:pPr>
            <a:r>
              <a:rPr sz="2000" b="1" i="0">
                <a:solidFill>
                  <a:srgbClr val="53565A"/>
                </a:solidFill>
                <a:latin typeface="Calibri"/>
              </a:rPr>
              <a:t>双模式界面切换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100" y="5105400"/>
            <a:ext cx="5930900" cy="7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简洁模式满足快速操作，高级模式支持深度定制与复杂功能，灵活适配不同用户需求与使用场景。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2009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0D8390"/>
                </a:solidFill>
                <a:latin typeface="Calibri"/>
              </a:defRPr>
            </a:pPr>
            <a:r>
              <a:rPr sz="6600" b="1" i="0">
                <a:solidFill>
                  <a:srgbClr val="0D8390"/>
                </a:solidFill>
                <a:latin typeface="Calibr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8500" y="7035800"/>
            <a:ext cx="59309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0D8390"/>
                </a:solidFill>
                <a:latin typeface="Calibri"/>
              </a:defRPr>
            </a:pPr>
            <a:r>
              <a:rPr sz="2000" b="1" i="0">
                <a:solidFill>
                  <a:srgbClr val="0D8390"/>
                </a:solidFill>
                <a:latin typeface="Calibri"/>
              </a:rPr>
              <a:t>任务导向设计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8500" y="7454900"/>
            <a:ext cx="5930900" cy="7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聚焦具体工作目标，引导用户高效完成任务，减少无效交互，显著提升执行效率与结果达成率。</a:t>
            </a:r>
          </a:p>
        </p:txBody>
      </p:sp>
      <p:pic>
        <p:nvPicPr>
          <p:cNvPr id="18" name="Picture 17" descr="930b3659-927a-4329-8be9-24a51a22bb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09600"/>
            <a:ext cx="14452600" cy="546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3600" b="1" i="0">
                <a:solidFill>
                  <a:srgbClr val="111827"/>
                </a:solidFill>
                <a:latin typeface="Noto Sans SC"/>
              </a:defRPr>
            </a:pPr>
            <a:r>
              <a:rPr sz="3600" b="1" i="0">
                <a:solidFill>
                  <a:srgbClr val="111827"/>
                </a:solidFill>
                <a:latin typeface="Noto Sans SC"/>
              </a:rPr>
              <a:t>知识管理模块功能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08100"/>
            <a:ext cx="144526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 i="0">
                <a:solidFill>
                  <a:srgbClr val="6B7280"/>
                </a:solidFill>
                <a:latin typeface="Calibri"/>
              </a:defRPr>
            </a:pPr>
            <a:r>
              <a:rPr sz="2200" b="0" i="0">
                <a:solidFill>
                  <a:srgbClr val="6B7280"/>
                </a:solidFill>
                <a:latin typeface="Calibri"/>
              </a:rPr>
              <a:t>构建企业级知识库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33600"/>
            <a:ext cx="10820400" cy="2489200"/>
          </a:xfrm>
          <a:prstGeom prst="roundRect">
            <a:avLst>
              <a:gd name="adj" fmla="val 3061"/>
            </a:avLst>
          </a:prstGeom>
          <a:solidFill>
            <a:srgbClr val="F2F2F2">
              <a:alpha val="50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133600"/>
            <a:ext cx="10820400" cy="508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8400" y="2387600"/>
            <a:ext cx="103378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09090B"/>
                </a:solidFill>
                <a:latin typeface="Noto Sans SC"/>
              </a:defRPr>
            </a:pPr>
            <a:r>
              <a:rPr sz="2000" b="1" i="0">
                <a:solidFill>
                  <a:srgbClr val="09090B"/>
                </a:solidFill>
                <a:latin typeface="Noto Sans SC"/>
              </a:rPr>
              <a:t>统一知识资产管理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28702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集中管理企业知识资产，支持多源数据整合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00" y="33020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自动提取文档摘要、生成标签与问答对，降低维护成本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37211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支持自定义分段策略，提升知识检索精准度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400" y="41529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兼容Word、Excel、PPT、TXT等主流格式，实现无缝上传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38700"/>
            <a:ext cx="10820400" cy="2489200"/>
          </a:xfrm>
          <a:prstGeom prst="roundRect">
            <a:avLst>
              <a:gd name="adj" fmla="val 3061"/>
            </a:avLst>
          </a:prstGeom>
          <a:solidFill>
            <a:srgbClr val="F2F2F2">
              <a:alpha val="50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4838700"/>
            <a:ext cx="10820400" cy="508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8400" y="5092700"/>
            <a:ext cx="103378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09090B"/>
                </a:solidFill>
                <a:latin typeface="Noto Sans SC"/>
              </a:defRPr>
            </a:pPr>
            <a:r>
              <a:rPr sz="2000" b="1" i="0">
                <a:solidFill>
                  <a:srgbClr val="09090B"/>
                </a:solidFill>
                <a:latin typeface="Noto Sans SC"/>
              </a:rPr>
              <a:t>高效知识构建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8400" y="55753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支持问答对形式录入，快速构建专业领域知识库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400" y="59944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灵活适配业务场景，加速知识沉淀与复用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400" y="64262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保障知识一致性与可追溯性，支撑体系持续演进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400" y="6845300"/>
            <a:ext cx="103378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Calibri"/>
              </a:defRPr>
            </a:pPr>
            <a:r>
              <a:rPr sz="1800" b="0" i="0">
                <a:solidFill>
                  <a:srgbClr val="111827"/>
                </a:solidFill>
                <a:latin typeface="Calibri"/>
              </a:rPr>
              <a:t>支持多角色协作，提升知识共建效率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pic>
        <p:nvPicPr>
          <p:cNvPr id="19" name="Picture 18" descr="ef5ef262-b8f5-4727-97b3-bfa0ff89b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0"/>
            <a:ext cx="406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09600"/>
            <a:ext cx="144526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4000" b="1" i="0">
                <a:solidFill>
                  <a:srgbClr val="111827"/>
                </a:solidFill>
                <a:latin typeface="Noto Sans SC"/>
              </a:defRPr>
            </a:pPr>
            <a:r>
              <a:rPr sz="4000" b="1" i="0">
                <a:solidFill>
                  <a:srgbClr val="111827"/>
                </a:solidFill>
                <a:latin typeface="Noto Sans SC"/>
              </a:rPr>
              <a:t>智能检索与知识复用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44526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6B7280"/>
                </a:solidFill>
                <a:latin typeface="Calibri"/>
              </a:defRPr>
            </a:pPr>
            <a:r>
              <a:rPr sz="2000" b="0" i="0">
                <a:solidFill>
                  <a:srgbClr val="6B7280"/>
                </a:solidFill>
                <a:latin typeface="Calibri"/>
              </a:rPr>
              <a:t>语义理解驱动高效发现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59000"/>
            <a:ext cx="6007100" cy="774700"/>
          </a:xfrm>
          <a:prstGeom prst="roundRect">
            <a:avLst>
              <a:gd name="adj" fmla="val 13114"/>
            </a:avLst>
          </a:prstGeom>
          <a:solidFill>
            <a:srgbClr val="26890D">
              <a:alpha val="10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8400" y="2209800"/>
            <a:ext cx="55245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2200" b="0" i="0">
                <a:solidFill>
                  <a:srgbClr val="26890D"/>
                </a:solidFill>
                <a:latin typeface="Calibri"/>
              </a:defRPr>
            </a:pPr>
            <a:r>
              <a:rPr sz="2200" b="0" i="0">
                <a:solidFill>
                  <a:srgbClr val="26890D"/>
                </a:solidFill>
                <a:latin typeface="Calibri"/>
              </a:rPr>
              <a:t>突破关键词匹配局限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24700" y="2159000"/>
            <a:ext cx="803910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74151"/>
                </a:solidFill>
                <a:latin typeface="Calibri"/>
              </a:defRPr>
            </a:pPr>
            <a:r>
              <a:rPr sz="2000" b="0" i="0">
                <a:solidFill>
                  <a:srgbClr val="374151"/>
                </a:solidFill>
                <a:latin typeface="Calibri"/>
              </a:rPr>
              <a:t>基于语义理解精准捕捉用户意图，提升检索准确率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36900"/>
            <a:ext cx="6007100" cy="774700"/>
          </a:xfrm>
          <a:prstGeom prst="roundRect">
            <a:avLst>
              <a:gd name="adj" fmla="val 13114"/>
            </a:avLst>
          </a:prstGeom>
          <a:solidFill>
            <a:srgbClr val="26890D">
              <a:alpha val="10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8400" y="3187700"/>
            <a:ext cx="55245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2200" b="0" i="0">
                <a:solidFill>
                  <a:srgbClr val="26890D"/>
                </a:solidFill>
                <a:latin typeface="Calibri"/>
              </a:defRPr>
            </a:pPr>
            <a:r>
              <a:rPr sz="2200" b="0" i="0">
                <a:solidFill>
                  <a:srgbClr val="26890D"/>
                </a:solidFill>
                <a:latin typeface="Calibri"/>
              </a:rPr>
              <a:t>跨文档关联分析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4700" y="3136900"/>
            <a:ext cx="803910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74151"/>
                </a:solidFill>
                <a:latin typeface="Calibri"/>
              </a:defRPr>
            </a:pPr>
            <a:r>
              <a:rPr sz="2000" b="0" i="0">
                <a:solidFill>
                  <a:srgbClr val="374151"/>
                </a:solidFill>
                <a:latin typeface="Calibri"/>
              </a:rPr>
              <a:t>自动识别文档间隐含关系，构建知识网络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6007100" cy="774700"/>
          </a:xfrm>
          <a:prstGeom prst="roundRect">
            <a:avLst>
              <a:gd name="adj" fmla="val 13114"/>
            </a:avLst>
          </a:prstGeom>
          <a:solidFill>
            <a:srgbClr val="26890D">
              <a:alpha val="10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8400" y="4165600"/>
            <a:ext cx="55245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2200" b="0" i="0">
                <a:solidFill>
                  <a:srgbClr val="26890D"/>
                </a:solidFill>
                <a:latin typeface="Calibri"/>
              </a:defRPr>
            </a:pPr>
            <a:r>
              <a:rPr sz="2200" b="0" i="0">
                <a:solidFill>
                  <a:srgbClr val="26890D"/>
                </a:solidFill>
                <a:latin typeface="Calibri"/>
              </a:rPr>
              <a:t>支持智能体动态调用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4700" y="4114800"/>
            <a:ext cx="803910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74151"/>
                </a:solidFill>
                <a:latin typeface="Calibri"/>
              </a:defRPr>
            </a:pPr>
            <a:r>
              <a:rPr sz="2000" b="0" i="0">
                <a:solidFill>
                  <a:srgbClr val="374151"/>
                </a:solidFill>
                <a:latin typeface="Calibri"/>
              </a:rPr>
              <a:t>知识条目可被智能体和提示词模板调用，实现复用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80000"/>
            <a:ext cx="6007100" cy="774700"/>
          </a:xfrm>
          <a:prstGeom prst="roundRect">
            <a:avLst>
              <a:gd name="adj" fmla="val 13114"/>
            </a:avLst>
          </a:prstGeom>
          <a:solidFill>
            <a:srgbClr val="26890D">
              <a:alpha val="10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8400" y="5130800"/>
            <a:ext cx="55245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2200" b="0" i="0">
                <a:solidFill>
                  <a:srgbClr val="26890D"/>
                </a:solidFill>
                <a:latin typeface="Calibri"/>
              </a:defRPr>
            </a:pPr>
            <a:r>
              <a:rPr sz="2200" b="0" i="0">
                <a:solidFill>
                  <a:srgbClr val="26890D"/>
                </a:solidFill>
                <a:latin typeface="Calibri"/>
              </a:rPr>
              <a:t>促进组织知识沉淀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4700" y="5080000"/>
            <a:ext cx="803910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74151"/>
                </a:solidFill>
                <a:latin typeface="Calibri"/>
              </a:defRPr>
            </a:pPr>
            <a:r>
              <a:rPr sz="2000" b="0" i="0">
                <a:solidFill>
                  <a:srgbClr val="374151"/>
                </a:solidFill>
                <a:latin typeface="Calibri"/>
              </a:rPr>
              <a:t>系统化积累最佳实践与项目经验，支持全员共享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057900"/>
            <a:ext cx="6007100" cy="774700"/>
          </a:xfrm>
          <a:prstGeom prst="roundRect">
            <a:avLst>
              <a:gd name="adj" fmla="val 13114"/>
            </a:avLst>
          </a:prstGeom>
          <a:solidFill>
            <a:srgbClr val="26890D">
              <a:alpha val="10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8400" y="6108700"/>
            <a:ext cx="5524500" cy="67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2200" b="0" i="0">
                <a:solidFill>
                  <a:srgbClr val="26890D"/>
                </a:solidFill>
                <a:latin typeface="Calibri"/>
              </a:defRPr>
            </a:pPr>
            <a:r>
              <a:rPr sz="2200" b="0" i="0">
                <a:solidFill>
                  <a:srgbClr val="26890D"/>
                </a:solidFill>
                <a:latin typeface="Calibri"/>
              </a:rPr>
              <a:t>赋能新人与项目启动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700" y="6057900"/>
            <a:ext cx="803910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74151"/>
                </a:solidFill>
                <a:latin typeface="Calibri"/>
              </a:defRPr>
            </a:pPr>
            <a:r>
              <a:rPr sz="2000" b="0" i="0">
                <a:solidFill>
                  <a:srgbClr val="374151"/>
                </a:solidFill>
                <a:latin typeface="Calibri"/>
              </a:rPr>
              <a:t>提供即用型知识支持，缩短学习与启动周期</a:t>
            </a:r>
          </a:p>
        </p:txBody>
      </p:sp>
      <p:pic>
        <p:nvPicPr>
          <p:cNvPr id="19" name="Picture 18" descr="533c85e9-2661-4160-aa81-6b26cb24f9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0" y="0"/>
            <a:ext cx="7150100" cy="1828800"/>
          </a:xfrm>
          <a:prstGeom prst="rect">
            <a:avLst/>
          </a:prstGeom>
        </p:spPr>
      </p:pic>
      <p:pic>
        <p:nvPicPr>
          <p:cNvPr id="20" name="Picture 19" descr="15b120cc-4637-4496-befc-a83c4cb126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15200"/>
            <a:ext cx="71501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d932222-8d96-4a4b-a6ab-cc32a49192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304800"/>
            <a:ext cx="812800" cy="71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400" y="406400"/>
            <a:ext cx="154686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共创智能集市概览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1143000"/>
            <a:ext cx="154686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4B5563"/>
                </a:solidFill>
                <a:latin typeface="Arial"/>
              </a:defRPr>
            </a:pPr>
            <a:r>
              <a:rPr sz="2400" b="0" i="0">
                <a:solidFill>
                  <a:srgbClr val="4B5563"/>
                </a:solidFill>
                <a:latin typeface="Arial"/>
              </a:rPr>
              <a:t>统一入口，畅享AI能力资源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800" y="2032000"/>
            <a:ext cx="3441700" cy="4572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集成提示词模板</a:t>
            </a:r>
          </a:p>
        </p:txBody>
      </p:sp>
      <p:pic>
        <p:nvPicPr>
          <p:cNvPr id="7" name="Picture 6" descr="2863cff6-da25-4bd5-9e85-ce11508df6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100" y="2133600"/>
            <a:ext cx="254000" cy="254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57700" y="2032000"/>
            <a:ext cx="3441700" cy="4572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智能体与知识库</a:t>
            </a:r>
          </a:p>
        </p:txBody>
      </p:sp>
      <p:pic>
        <p:nvPicPr>
          <p:cNvPr id="9" name="Picture 8" descr="2863cff6-da25-4bd5-9e85-ce11508df6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133600"/>
            <a:ext cx="254000" cy="25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56600" y="2032000"/>
            <a:ext cx="3441700" cy="4572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打造AI服务生态</a:t>
            </a:r>
          </a:p>
        </p:txBody>
      </p:sp>
      <p:pic>
        <p:nvPicPr>
          <p:cNvPr id="11" name="Picture 10" descr="2863cff6-da25-4bd5-9e85-ce11508df6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9900" y="2133600"/>
            <a:ext cx="254000" cy="254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2255500" y="2032000"/>
            <a:ext cx="3441700" cy="4572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25400" dist="127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支持收藏与复用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2590800"/>
            <a:ext cx="154686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 i="0">
                <a:solidFill>
                  <a:srgbClr val="374151"/>
                </a:solidFill>
                <a:latin typeface="Arial"/>
              </a:defRPr>
            </a:pPr>
            <a:r>
              <a:rPr sz="1600" b="0" i="0">
                <a:solidFill>
                  <a:srgbClr val="374151"/>
                </a:solidFill>
                <a:latin typeface="Arial"/>
              </a:rPr>
              <a:t>核心功能亮点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400" y="3200400"/>
            <a:ext cx="2286000" cy="5715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8800" y="3352800"/>
            <a:ext cx="20066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2400" y="3200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4480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集成提示词模板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1700" y="3200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3410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智能体与知识库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1000" y="3200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340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打造AI服务生态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60300" y="3200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71270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rPr sz="1400" b="0" i="0">
                <a:solidFill>
                  <a:srgbClr val="FFFFFF"/>
                </a:solidFill>
                <a:latin typeface="Arial"/>
              </a:rPr>
              <a:t>支持收藏与复用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400" y="3771900"/>
            <a:ext cx="2286000" cy="825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600" y="39243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统一入口访问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2400" y="37719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95600" y="3924300"/>
            <a:ext cx="29083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通过统一入口快速访问各类AI资源，降低使用门槛。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1700" y="37719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84900" y="3924300"/>
            <a:ext cx="29083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支持用户收藏常用资源，提升使用效率。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71000" y="37719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74200" y="3924300"/>
            <a:ext cx="29083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持续接入新AI能力，保持平台前瞻性。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560300" y="37719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63500" y="3924300"/>
            <a:ext cx="29083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构建德勤内部AI服务生态，推动协作智能化。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400" y="4597400"/>
            <a:ext cx="2286000" cy="825500"/>
          </a:xfrm>
          <a:prstGeom prst="roundRect">
            <a:avLst>
              <a:gd name="adj" fmla="val 6153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9600" y="47498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集成多类资源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2400" y="45974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95600" y="4749800"/>
            <a:ext cx="29083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整合提示词模板、智能体、知识库和工具插件。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1700" y="45974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84900" y="47498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实现资源统一管理与高效调用。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71000" y="45974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74200" y="47498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支持灵活组合，满足多样业务需求。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560300" y="4597400"/>
            <a:ext cx="3289300" cy="825500"/>
          </a:xfrm>
          <a:prstGeom prst="roundRect">
            <a:avLst>
              <a:gd name="adj" fmla="val 6153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763500" y="47498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提升AI能力复用率与团队协同效率。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400" y="5422900"/>
            <a:ext cx="2286000" cy="571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9600" y="55753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构建服务生态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2400" y="54229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95600" y="55753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打造德勤内部AI服务生态系统。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81700" y="54229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84900" y="55753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促进跨团队协作与能力共享。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71000" y="54229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74200" y="55753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推动AI应用从试点到规模化落地。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560300" y="54229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763500" y="55753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建设可持续演进的智能基础设施。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6400" y="5994400"/>
            <a:ext cx="2286000" cy="571500"/>
          </a:xfrm>
          <a:prstGeom prst="roundRect">
            <a:avLst>
              <a:gd name="adj" fmla="val 8888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9600" y="61468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提升使用粘性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92400" y="5994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95600" y="61468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支持收藏与复用常用AI资源。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81700" y="5994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84900" y="61468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优化用户体验，增强平台依赖性。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71000" y="5994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74200" y="61468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通过个性化推荐激发使用意愿。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560300" y="5994400"/>
            <a:ext cx="3289300" cy="571500"/>
          </a:xfrm>
          <a:prstGeom prst="roundRect">
            <a:avLst>
              <a:gd name="adj" fmla="val 8888"/>
            </a:avLst>
          </a:prstGeom>
          <a:solidFill>
            <a:srgbClr val="046A38">
              <a:alpha val="20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2763500" y="6146800"/>
            <a:ext cx="29083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实现从工具使用到生态参与的转变。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d932222-8d96-4a4b-a6ab-cc32a49192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304800"/>
            <a:ext cx="812800" cy="71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06400"/>
            <a:ext cx="150622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亮点智能体展示：赋能高效决策与协作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4B5563"/>
                </a:solidFill>
                <a:latin typeface="Arial"/>
              </a:defRPr>
            </a:pPr>
            <a:r>
              <a:rPr sz="2400" b="0" i="0">
                <a:solidFill>
                  <a:srgbClr val="4B5563"/>
                </a:solidFill>
                <a:latin typeface="Arial"/>
              </a:rPr>
              <a:t>AI驱动的三大核心智能体，助力业务全流程提效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pic>
        <p:nvPicPr>
          <p:cNvPr id="6" name="Picture 5" descr="3daca874-78aa-465a-a4ab-febafd6675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8800" y="7416800"/>
            <a:ext cx="1422400" cy="1422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625600" y="2540000"/>
            <a:ext cx="6299200" cy="2082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8" name="Picture 7" descr="4ab2392c-e48f-4230-bef8-1c6a0a77ac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743200"/>
            <a:ext cx="1219200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2800" y="27432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F2937"/>
                </a:solidFill>
                <a:latin typeface="Arial"/>
              </a:defRPr>
            </a:pPr>
            <a:r>
              <a:rPr sz="1800" b="1" i="0">
                <a:solidFill>
                  <a:srgbClr val="1F2937"/>
                </a:solidFill>
                <a:latin typeface="Arial"/>
              </a:rPr>
              <a:t>Digital Consultant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32004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Arial"/>
              </a:defRPr>
            </a:pPr>
            <a:r>
              <a:rPr sz="1400" b="0" i="0">
                <a:solidFill>
                  <a:srgbClr val="4B5563"/>
                </a:solidFill>
                <a:latin typeface="Arial"/>
              </a:rPr>
              <a:t>智能方案生成与交付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800" y="3556000"/>
            <a:ext cx="43942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协助撰写产品方案与运营策略，自动生成PPT与咨询报告，提升交付效率与专业度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800" y="4394200"/>
            <a:ext cx="4368800" cy="254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31200" y="2540000"/>
            <a:ext cx="6299200" cy="2082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4" name="Picture 13" descr="4ab2392c-e48f-4230-bef8-1c6a0a77ac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2743200"/>
            <a:ext cx="1219200" cy="1219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27432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F2937"/>
                </a:solidFill>
                <a:latin typeface="Arial"/>
              </a:defRPr>
            </a:pPr>
            <a:r>
              <a:rPr sz="1800" b="1" i="0">
                <a:solidFill>
                  <a:srgbClr val="1F2937"/>
                </a:solidFill>
                <a:latin typeface="Arial"/>
              </a:rPr>
              <a:t>Analytics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2004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Arial"/>
              </a:defRPr>
            </a:pPr>
            <a:r>
              <a:rPr sz="1400" b="0" i="0">
                <a:solidFill>
                  <a:srgbClr val="4B5563"/>
                </a:solidFill>
                <a:latin typeface="Arial"/>
              </a:rPr>
              <a:t>数据洞察与决策支持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56000"/>
            <a:ext cx="43942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执行SQL查询，生成可视化图表与关键洞察摘要，加速数据驱动决策流程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4394200"/>
            <a:ext cx="4368800" cy="254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25600" y="5029200"/>
            <a:ext cx="6299200" cy="20828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20" name="Picture 19" descr="0815ade6-68ab-48fc-95c0-8bda239295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5232400"/>
            <a:ext cx="1219200" cy="1219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52800" y="52324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F2937"/>
                </a:solidFill>
                <a:latin typeface="Arial"/>
              </a:defRPr>
            </a:pPr>
            <a:r>
              <a:rPr sz="1800" b="1" i="0">
                <a:solidFill>
                  <a:srgbClr val="1F2937"/>
                </a:solidFill>
                <a:latin typeface="Arial"/>
              </a:rPr>
              <a:t>Translator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800" y="56896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Arial"/>
              </a:defRPr>
            </a:pPr>
            <a:r>
              <a:rPr sz="1400" b="0" i="0">
                <a:solidFill>
                  <a:srgbClr val="4B5563"/>
                </a:solidFill>
                <a:latin typeface="Arial"/>
              </a:rPr>
              <a:t>多语言智能翻译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800" y="6045200"/>
            <a:ext cx="43942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3000"/>
              </a:lnSpc>
              <a:defRPr sz="1400" b="0" i="0">
                <a:solidFill>
                  <a:srgbClr val="374151"/>
                </a:solidFill>
                <a:latin typeface="Arial"/>
              </a:defRPr>
            </a:pPr>
            <a:r>
              <a:rPr sz="1400" b="0" i="0">
                <a:solidFill>
                  <a:srgbClr val="374151"/>
                </a:solidFill>
                <a:latin typeface="Arial"/>
              </a:rPr>
              <a:t>支持中、英、日等多语言互译，实现文档快速翻译与专业级润色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2800" y="6870700"/>
            <a:ext cx="4368800" cy="254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09600"/>
            <a:ext cx="144526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70000"/>
              </a:lnSpc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工作助手模块组成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415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86BC25"/>
                </a:solidFill>
                <a:latin typeface="Calibri"/>
              </a:defRPr>
            </a:pPr>
            <a:r>
              <a:rPr sz="66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6900" y="2082800"/>
            <a:ext cx="7137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11827"/>
                </a:solidFill>
                <a:latin typeface="Calibri"/>
              </a:defRPr>
            </a:pPr>
            <a:r>
              <a:rPr sz="2000" b="0" i="0">
                <a:solidFill>
                  <a:srgbClr val="111827"/>
                </a:solidFill>
                <a:latin typeface="Calibri"/>
              </a:rPr>
              <a:t>文档助手：上传文档后实现智能总结、对比分析、改写与问答。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86BC25"/>
                </a:solidFill>
                <a:latin typeface="Calibri"/>
              </a:defRPr>
            </a:pPr>
            <a:r>
              <a:rPr sz="66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6900" y="3441700"/>
            <a:ext cx="662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11827"/>
                </a:solidFill>
                <a:latin typeface="Calibri"/>
              </a:defRPr>
            </a:pPr>
            <a:r>
              <a:rPr sz="2000" b="0" i="0">
                <a:solidFill>
                  <a:srgbClr val="111827"/>
                </a:solidFill>
                <a:latin typeface="Calibri"/>
              </a:rPr>
              <a:t>翻译助手：支持多语言句段与文档级翻译，保留原始格式。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593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86BC25"/>
                </a:solidFill>
                <a:latin typeface="Calibri"/>
              </a:defRPr>
            </a:pPr>
            <a:r>
              <a:rPr sz="66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900" y="4800600"/>
            <a:ext cx="6375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11827"/>
                </a:solidFill>
                <a:latin typeface="Calibri"/>
              </a:defRPr>
            </a:pPr>
            <a:r>
              <a:rPr sz="2000" b="0" i="0">
                <a:solidFill>
                  <a:srgbClr val="111827"/>
                </a:solidFill>
                <a:latin typeface="Calibri"/>
              </a:rPr>
              <a:t>语音助手：语音转文字、要点提取、自动生成会议纪要。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182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86BC25"/>
                </a:solidFill>
                <a:latin typeface="Calibri"/>
              </a:defRPr>
            </a:pPr>
            <a:r>
              <a:rPr sz="66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900" y="6159500"/>
            <a:ext cx="6375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11827"/>
                </a:solidFill>
                <a:latin typeface="Calibri"/>
              </a:defRPr>
            </a:pPr>
            <a:r>
              <a:rPr sz="2000" b="0" i="0">
                <a:solidFill>
                  <a:srgbClr val="111827"/>
                </a:solidFill>
                <a:latin typeface="Calibri"/>
              </a:rPr>
              <a:t>编程助手：代码生成、函数改写、注释补充、自动补全。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277100"/>
            <a:ext cx="8763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600" b="1" i="0">
                <a:solidFill>
                  <a:srgbClr val="86BC25"/>
                </a:solidFill>
                <a:latin typeface="Calibri"/>
              </a:defRPr>
            </a:pPr>
            <a:r>
              <a:rPr sz="6600" b="1" i="0">
                <a:solidFill>
                  <a:srgbClr val="86BC25"/>
                </a:solidFill>
                <a:latin typeface="Calibri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6900" y="7518400"/>
            <a:ext cx="6375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0" i="0">
                <a:solidFill>
                  <a:srgbClr val="111827"/>
                </a:solidFill>
                <a:latin typeface="Calibri"/>
              </a:defRPr>
            </a:pPr>
            <a:r>
              <a:rPr sz="2000" b="0" i="0">
                <a:solidFill>
                  <a:srgbClr val="111827"/>
                </a:solidFill>
                <a:latin typeface="Calibri"/>
              </a:rPr>
              <a:t>各模块均支持与主平台无缝集成，操作便捷，多端同步。</a:t>
            </a:r>
          </a:p>
        </p:txBody>
      </p:sp>
      <p:pic>
        <p:nvPicPr>
          <p:cNvPr id="13" name="Picture 12" descr="c4d85965-72a4-4bdd-86d0-0a16ef8869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300" y="1841500"/>
            <a:ext cx="5829300" cy="6692900"/>
          </a:xfrm>
          <a:prstGeom prst="rect">
            <a:avLst/>
          </a:prstGeom>
        </p:spPr>
      </p:pic>
      <p:pic>
        <p:nvPicPr>
          <p:cNvPr id="14" name="Picture 13" descr="930b3659-927a-4329-8be9-24a51a22bb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50622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 i="0">
                <a:solidFill>
                  <a:srgbClr val="111827"/>
                </a:solidFill>
                <a:latin typeface="Arial"/>
              </a:defRPr>
            </a:pPr>
            <a:r>
              <a:rPr sz="3600" b="1" i="0">
                <a:solidFill>
                  <a:srgbClr val="111827"/>
                </a:solidFill>
                <a:latin typeface="Arial"/>
              </a:rPr>
              <a:t>应用中心定位与价值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2319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 i="0">
                <a:solidFill>
                  <a:srgbClr val="6B7280"/>
                </a:solidFill>
                <a:latin typeface="Arial"/>
              </a:defRPr>
            </a:pPr>
            <a:r>
              <a:rPr sz="2200" b="0" i="0">
                <a:solidFill>
                  <a:srgbClr val="6B7280"/>
                </a:solidFill>
                <a:latin typeface="Arial"/>
              </a:rPr>
              <a:t>聚焦行业场景，驱动AI专业化落地</a:t>
            </a:r>
          </a:p>
        </p:txBody>
      </p:sp>
      <p:pic>
        <p:nvPicPr>
          <p:cNvPr id="4" name="Picture 3" descr="ca02e77e-f065-4fb7-8dc2-c49757f03d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0" y="0"/>
            <a:ext cx="71501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pic>
        <p:nvPicPr>
          <p:cNvPr id="6" name="Picture 5" descr="3daca874-78aa-465a-a4ab-febafd6675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8800" y="7416800"/>
            <a:ext cx="1422400" cy="1422400"/>
          </a:xfrm>
          <a:prstGeom prst="rect">
            <a:avLst/>
          </a:prstGeom>
        </p:spPr>
      </p:pic>
      <p:pic>
        <p:nvPicPr>
          <p:cNvPr id="7" name="Picture 6" descr="d6dad43a-3c75-430f-91a1-25cd73218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425700"/>
            <a:ext cx="43180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1400" y="2438400"/>
            <a:ext cx="34798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0" i="0">
                <a:solidFill>
                  <a:srgbClr val="333333"/>
                </a:solidFill>
                <a:latin typeface="Arial"/>
              </a:defRPr>
            </a:pPr>
            <a:r>
              <a:rPr sz="1900" b="0" i="0">
                <a:solidFill>
                  <a:srgbClr val="333333"/>
                </a:solidFill>
                <a:latin typeface="Arial"/>
              </a:rPr>
              <a:t>汇聚GenAI算法与算力驱动的独立应用系统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7200" y="2667000"/>
            <a:ext cx="127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0400" y="2476500"/>
            <a:ext cx="99314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推动AI能力从通用向专业纵深演进，释放行业价值潜力。提供100%定制化支持，提升30%部署效率</a:t>
            </a:r>
          </a:p>
        </p:txBody>
      </p:sp>
      <p:pic>
        <p:nvPicPr>
          <p:cNvPr id="11" name="Picture 10" descr="251f805d-c33c-4b2b-80f0-6b0a19e2c6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606800"/>
            <a:ext cx="43180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1400" y="3619500"/>
            <a:ext cx="34798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0" i="0">
                <a:solidFill>
                  <a:srgbClr val="FFFFFF"/>
                </a:solidFill>
                <a:latin typeface="Arial"/>
              </a:defRPr>
            </a:pPr>
            <a:r>
              <a:rPr sz="1900" b="0" i="0">
                <a:solidFill>
                  <a:srgbClr val="FFFFFF"/>
                </a:solidFill>
                <a:latin typeface="Arial"/>
              </a:rPr>
              <a:t>面向金融、医疗等垂直行业提供定制化解决方案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7200" y="3835400"/>
            <a:ext cx="127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0400" y="3657600"/>
            <a:ext cx="99314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支持跨行业复用，降低开发成本，加速AI产品化落地。内置50+行业模板和200+预置模块</a:t>
            </a:r>
          </a:p>
        </p:txBody>
      </p:sp>
      <p:pic>
        <p:nvPicPr>
          <p:cNvPr id="15" name="Picture 14" descr="b13900bf-265f-4e44-b544-9f69b25e7b4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787900"/>
            <a:ext cx="43180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1400" y="4800600"/>
            <a:ext cx="34798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0" i="0">
                <a:solidFill>
                  <a:srgbClr val="FFFFFF"/>
                </a:solidFill>
                <a:latin typeface="Arial"/>
              </a:defRPr>
            </a:pPr>
            <a:r>
              <a:rPr sz="1900" b="0" i="0">
                <a:solidFill>
                  <a:srgbClr val="FFFFFF"/>
                </a:solidFill>
                <a:latin typeface="Arial"/>
              </a:rPr>
              <a:t>支持独立访问控制，保障数据隔离与权限安全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7200" y="5016500"/>
            <a:ext cx="127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0400" y="4838700"/>
            <a:ext cx="99314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统一管理入口，实现应用全生命周期可视化管控，支持实时监控与自动扩缩容</a:t>
            </a:r>
          </a:p>
        </p:txBody>
      </p:sp>
      <p:pic>
        <p:nvPicPr>
          <p:cNvPr id="19" name="Picture 18" descr="150207c1-d3c3-4d79-9c94-035b41cbab4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969000"/>
            <a:ext cx="431800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1400" y="5969000"/>
            <a:ext cx="3479800" cy="66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0" i="0">
                <a:solidFill>
                  <a:srgbClr val="FFFFFF"/>
                </a:solidFill>
                <a:latin typeface="Arial"/>
              </a:defRPr>
            </a:pPr>
            <a:r>
              <a:rPr sz="1900" b="0" i="0">
                <a:solidFill>
                  <a:srgbClr val="FFFFFF"/>
                </a:solidFill>
                <a:latin typeface="Arial"/>
              </a:rPr>
              <a:t>支持快速部署与按需调用，满足项目级AI应用需求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7200" y="6197600"/>
            <a:ext cx="127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0400" y="6019800"/>
            <a:ext cx="99314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兼容主流AI框架，灵活对接企业现有IT体系，支持PyTorch、TensorFlow、ONNX等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d932222-8d96-4a4b-a6ab-cc32a49192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304800"/>
            <a:ext cx="812800" cy="711200"/>
          </a:xfrm>
          <a:prstGeom prst="rect">
            <a:avLst/>
          </a:prstGeom>
        </p:spPr>
      </p:pic>
      <p:pic>
        <p:nvPicPr>
          <p:cNvPr id="3" name="Picture 2" descr="1a5946d1-9512-49db-be83-085e5ad932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7315200"/>
            <a:ext cx="71501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50622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000000"/>
                </a:solidFill>
                <a:latin typeface="Arial"/>
              </a:defRPr>
            </a:pPr>
            <a:r>
              <a:rPr sz="4000" b="1" i="0">
                <a:solidFill>
                  <a:srgbClr val="000000"/>
                </a:solidFill>
                <a:latin typeface="Arial"/>
              </a:rPr>
              <a:t>权限管理体系：精细化访问控制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62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 i="0">
                <a:solidFill>
                  <a:srgbClr val="4B5563"/>
                </a:solidFill>
                <a:latin typeface="Arial"/>
              </a:defRPr>
            </a:pPr>
            <a:r>
              <a:rPr sz="2400" b="0" i="0">
                <a:solidFill>
                  <a:srgbClr val="4B5563"/>
                </a:solidFill>
                <a:latin typeface="Arial"/>
              </a:rPr>
              <a:t>保障安全与合规的统一管理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pic>
        <p:nvPicPr>
          <p:cNvPr id="7" name="Picture 6" descr="baf12987-cd9b-48f4-9d8f-fdd56060d6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00" y="2540000"/>
            <a:ext cx="711200" cy="711200"/>
          </a:xfrm>
          <a:prstGeom prst="rect">
            <a:avLst/>
          </a:prstGeom>
        </p:spPr>
      </p:pic>
      <p:pic>
        <p:nvPicPr>
          <p:cNvPr id="8" name="Picture 7" descr="612623aa-d6da-4f2b-8e37-e9d0a3406f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1600" y="2628900"/>
            <a:ext cx="5334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35560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系统管理员可灵活配置资源访问权限，支持按部门、角色和项目划分访问范围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0419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实现对知识库、智能体及应用系统的细粒度管控，确保权限精准匹配岗位职责</a:t>
            </a:r>
          </a:p>
        </p:txBody>
      </p:sp>
      <p:pic>
        <p:nvPicPr>
          <p:cNvPr id="11" name="Picture 10" descr="baf12987-cd9b-48f4-9d8f-fdd56060d6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540000"/>
            <a:ext cx="711200" cy="711200"/>
          </a:xfrm>
          <a:prstGeom prst="rect">
            <a:avLst/>
          </a:prstGeom>
        </p:spPr>
      </p:pic>
      <p:pic>
        <p:nvPicPr>
          <p:cNvPr id="12" name="Picture 11" descr="612623aa-d6da-4f2b-8e37-e9d0a3406f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300" y="262890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0" y="3556000"/>
            <a:ext cx="4089400" cy="850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敏感信息仅对授权人员开放，有效防止数据泄露风险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46101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内置审计日志功能，完整记录所有操作行为，满足合规审查要求</a:t>
            </a:r>
          </a:p>
        </p:txBody>
      </p:sp>
      <p:pic>
        <p:nvPicPr>
          <p:cNvPr id="15" name="Picture 14" descr="baf12987-cd9b-48f4-9d8f-fdd56060d6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2100" y="2540000"/>
            <a:ext cx="711200" cy="711200"/>
          </a:xfrm>
          <a:prstGeom prst="rect">
            <a:avLst/>
          </a:prstGeom>
        </p:spPr>
      </p:pic>
      <p:pic>
        <p:nvPicPr>
          <p:cNvPr id="16" name="Picture 15" descr="612623aa-d6da-4f2b-8e37-e9d0a3406f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0" y="2628900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15700" y="35560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提供统一权限视图，支持快速调整并实时生效，显著提升管理效率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5700" y="5041900"/>
            <a:ext cx="4089400" cy="1282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defRPr sz="2400" b="0" i="0">
                <a:solidFill>
                  <a:srgbClr val="111827"/>
                </a:solidFill>
                <a:latin typeface="Arial"/>
              </a:defRPr>
            </a:pPr>
            <a:r>
              <a:rPr sz="2400" b="0" i="0">
                <a:solidFill>
                  <a:srgbClr val="111827"/>
                </a:solidFill>
                <a:latin typeface="Arial"/>
              </a:rPr>
              <a:t>支持多层级权限继承与覆盖机制，适应复杂多变的组织架构需求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02e77e-f065-4fb7-8dc2-c49757f03d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0" y="0"/>
            <a:ext cx="71501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08000"/>
            <a:ext cx="150622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 i="0">
                <a:solidFill>
                  <a:srgbClr val="111827"/>
                </a:solidFill>
                <a:latin typeface="Arial"/>
              </a:defRPr>
            </a:pPr>
            <a:r>
              <a:rPr sz="3600" b="1" i="0">
                <a:solidFill>
                  <a:srgbClr val="111827"/>
                </a:solidFill>
                <a:latin typeface="Arial"/>
              </a:rPr>
              <a:t>API服务与系统集成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30300"/>
            <a:ext cx="150622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 i="0">
                <a:solidFill>
                  <a:srgbClr val="6B7280"/>
                </a:solidFill>
                <a:latin typeface="Arial"/>
              </a:defRPr>
            </a:pPr>
            <a:r>
              <a:rPr sz="2200" b="0" i="0">
                <a:solidFill>
                  <a:srgbClr val="6B7280"/>
                </a:solidFill>
                <a:latin typeface="Arial"/>
              </a:rPr>
              <a:t>打通AI能力，赋能企业数字化转型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86360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20900"/>
            <a:ext cx="15062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核心能力与价值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565400"/>
            <a:ext cx="15036800" cy="647700"/>
          </a:xfrm>
          <a:prstGeom prst="roundRect">
            <a:avLst>
              <a:gd name="adj" fmla="val 7843"/>
            </a:avLst>
          </a:prstGeom>
          <a:solidFill>
            <a:srgbClr val="84BD00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2800" y="27178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</a:rPr>
              <a:t>API Key授权调用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2717800"/>
            <a:ext cx="10795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</a:rPr>
              <a:t>集成企业内部系统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213100"/>
            <a:ext cx="15036800" cy="38100"/>
          </a:xfrm>
          <a:prstGeom prst="roundRect">
            <a:avLst>
              <a:gd name="adj" fmla="val 133333"/>
            </a:avLst>
          </a:prstGeom>
          <a:noFill/>
          <a:ln w="381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9600" y="3251200"/>
            <a:ext cx="15036800" cy="1422400"/>
          </a:xfrm>
          <a:prstGeom prst="roundRect">
            <a:avLst>
              <a:gd name="adj" fmla="val 3571"/>
            </a:avLst>
          </a:prstGeom>
          <a:solidFill>
            <a:srgbClr val="84BD00">
              <a:alpha val="12500"/>
            </a:srgbClr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34544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无缝嵌入工作流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200" y="3454400"/>
            <a:ext cx="108966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将AI能力嵌入现有业务流程，提升自动化水平，减少人工操作。通过标准化接口快速对接，显著降低开发成本。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200" y="4152900"/>
            <a:ext cx="108966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提供完整的API文档与技术支持，保障集成高效稳定，缩短上线周期。为未来智能化升级预留扩展空间。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673600"/>
            <a:ext cx="15036800" cy="38100"/>
          </a:xfrm>
          <a:prstGeom prst="roundRect">
            <a:avLst>
              <a:gd name="adj" fmla="val 133333"/>
            </a:avLst>
          </a:prstGeom>
          <a:noFill/>
          <a:ln w="381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" y="49149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构建智能生态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5200" y="4914900"/>
            <a:ext cx="108966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支持多系统协同，推动跨部门数据联动与流程优化。统一API权限管理，确保调用安全可控。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5200" y="5283200"/>
            <a:ext cx="108966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为后续接入更多AI功能与业务系统奠定基础，助力企业持续智能化演进。兼顾灵活性与系统稳定性。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803900"/>
            <a:ext cx="15036800" cy="38100"/>
          </a:xfrm>
          <a:prstGeom prst="roundRect">
            <a:avLst>
              <a:gd name="adj" fmla="val 133333"/>
            </a:avLst>
          </a:prstGeom>
          <a:noFill/>
          <a:ln w="381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60452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降低集成门槛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5200" y="6045200"/>
            <a:ext cx="108966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提供标准化接口和详尽文档，支持快速对接与验证，降低技术团队学习成本，提升实施效率。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5200" y="6413500"/>
            <a:ext cx="1089660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111827"/>
                </a:solidFill>
                <a:latin typeface="Arial"/>
              </a:defRPr>
            </a:pPr>
            <a:r>
              <a:rPr sz="1800" b="0" i="0">
                <a:solidFill>
                  <a:srgbClr val="111827"/>
                </a:solidFill>
                <a:latin typeface="Arial"/>
              </a:rPr>
              <a:t>配备专业支持团队，全程协助部署，确保项目顺利落地。实现从接入到应用的全链路闭环。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6946900"/>
            <a:ext cx="15036800" cy="38100"/>
          </a:xfrm>
          <a:prstGeom prst="roundRect">
            <a:avLst>
              <a:gd name="adj" fmla="val 133333"/>
            </a:avLst>
          </a:prstGeom>
          <a:noFill/>
          <a:ln w="38100">
            <a:solidFill>
              <a:srgbClr val="D1D5D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733800"/>
            <a:ext cx="7645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6000" b="1" i="0">
                <a:solidFill>
                  <a:srgbClr val="111827"/>
                </a:solidFill>
                <a:latin typeface="Noto Sans SC"/>
              </a:defRPr>
            </a:pPr>
            <a:r>
              <a:rPr sz="6000" b="1" i="0">
                <a:solidFill>
                  <a:srgbClr val="111827"/>
                </a:solidFill>
                <a:latin typeface="Noto Sans SC"/>
              </a:rP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03800"/>
            <a:ext cx="76454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0" i="0">
                <a:solidFill>
                  <a:srgbClr val="6B7280"/>
                </a:solidFill>
                <a:latin typeface="Calibri"/>
              </a:defRPr>
            </a:pPr>
            <a:r>
              <a:rPr sz="4000" b="0" i="0">
                <a:solidFill>
                  <a:srgbClr val="6B7280"/>
                </a:solidFill>
                <a:latin typeface="Calibri"/>
              </a:rPr>
              <a:t>D.Nova：赋能组织智能化转型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372600"/>
            <a:ext cx="2857500" cy="215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09090B"/>
                </a:solidFill>
                <a:latin typeface="Noto Sans SC"/>
              </a:defRPr>
            </a:pPr>
            <a:r>
              <a:rPr sz="1100" b="0" i="0">
                <a:solidFill>
                  <a:srgbClr val="09090B"/>
                </a:solidFill>
                <a:latin typeface="Noto Sans SC"/>
              </a:rPr>
              <a:t>© 2026。欲了解更多信息，请联系德勤中国。</a:t>
            </a:r>
          </a:p>
        </p:txBody>
      </p:sp>
      <p:pic>
        <p:nvPicPr>
          <p:cNvPr id="5" name="Picture 4" descr="7c3f290c-4e9c-403e-a247-b7b166504f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0"/>
            <a:ext cx="7315200" cy="9144000"/>
          </a:xfrm>
          <a:prstGeom prst="rect">
            <a:avLst/>
          </a:prstGeom>
        </p:spPr>
      </p:pic>
      <p:pic>
        <p:nvPicPr>
          <p:cNvPr id="6" name="Picture 5" descr="8e4384ad-f1f2-472f-9dfd-9f62ea5369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04800"/>
            <a:ext cx="1422400" cy="71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1135</Words>
  <Application>Microsoft Office PowerPoint</Application>
  <PresentationFormat>自定义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Noto Sans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Lu, July Xinyi</cp:lastModifiedBy>
  <cp:revision>2</cp:revision>
  <dcterms:created xsi:type="dcterms:W3CDTF">2013-01-27T09:14:16Z</dcterms:created>
  <dcterms:modified xsi:type="dcterms:W3CDTF">2026-02-26T10:04:22Z</dcterms:modified>
  <cp:category/>
</cp:coreProperties>
</file>